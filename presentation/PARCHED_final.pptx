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3333333" cy="750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I'm Sheldon, this is Jed, and the title says it all: AI has a water problem nobody talks about. Today we want to show you how bad it gets, mathematically. Over the next ten minutes we will walk you through an agent-based model we built that simulates what happens when multiple hyperscale data centers share a single freshwater basin with farms, households, and a regulator who is always a couple of years behind. The headline result is that, under unregulated growth, every single one of our fifty replicate runs collapsed the basin within five to eight years, and the collapse is nonlinear in a way that makes reactive policy structurally useless. We will end with three concrete takeaways and the public repository if you want to play with the code yourself.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 five million liters a day. That is the daily on-site freshwater draw of a single modern hyperscale data center, and it comes straight from Li and colleagues 2023 paper, Making AI Less Thirsty. Now, the figure itself is shocking, but the more important point is what is missing from the literature. Almost all current disclosures are self-reported and single-firm. A given operator reports its own withdrawals, in isolation, against its own sustainability targets. Nobody models what happens when three, four, or five operators share the same aquifer with the farms next door and a hundred thousand residents downstream. That gap is exactly what we built PARCHED to fill. It is, as far as we can find, the first ABM that treats basin-level competition between hyperscalers as the primary object of study rather than as a footnote.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setup we model. One basin, finite, with thirty billion liters of usable capacity. Multiple data centers, all wanting cooling water, all running their own dispatch logic. Residential demand from roughly one hundred thousand people, plus agriculture, both rainfed and irrigated. And a regulator who observes the basin with delay and reacts after a threshold is crossed. The research question is short: what happens when self-interested data centers, blind to each other, share a finite basin? I want to stress those three words, blind to each other, because that is also the situation in real life. There is no shared metering protocol, no inter-operator price signal, and the regulator typically only sees the aggregate after something has gone wrong. That is what makes basin-level dynamics worth simulating instead of solving analytically.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in order. First, we build the model itself. That means agents for the data centers, farms, residents, and a regulator, plus a basin module that does the bookkeeping on inflows, withdrawals, and stress. Second, we test three concrete hypotheses, which I will introduce on the next slide. Third, we run four policy scenarios, A through D, under matched stochastic conditions. Matched is the key word: every scenario sees the same fifty random seeds, the same weather realizations, the same demand shocks. That way, when scenario C outperforms scenario A, we know the difference is the policy rule and not stochastic luck. This is a small methodological choice but it is what gives the comparative results their teeth.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hypotheses. H1 says that under unregulated growth the basin collapses on a five to eight year timeline. That window is from the back-of-envelope balance between hyperscaler intake rates and basin recharge. H2 is the most interesting claim and the one where the ABM earns its keep: we expect a tipping point around forty percent storage, below which decline is no longer linear. That happens because cooling-tower efficiency depends on water availability, so stress feeds back into demand. A static water-balance equation cannot show you that. H3 says proactive caps, set from day one, will delay critical stress by at least forty percent compared to reactive caps or no policy at all. Each of these has a clean test, which is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architectural tour. We have four data centers with heterogeneous capacity, so they do not all draw the same. Two farms, one rainfed and one irrigated, which gives us a non-DC consumer with very different demand seasonality. One hundred thousand residents, whose draw follows a temperature-modulated demand curve. A regulator that can issue caps but only sees the basin state with a configurable delay. And the basin itself, thirty billion liters of usable capacity with stochastic recharge from rainfall. One tick is one day, the model runs for ten years or until collapse, whichever comes first. The single most important mechanism is the cooling-stress positive feedback loop, which is what produces the nonlinear regime, and we will see it light up in the H2 result.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scenarios. A is unregulated growth, the baseline where nothing stops the data centers from drawing. B is a reactive cap, meaning the regulator activates a withdrawal limit only after the basin drops to thirty percent of capacity. C is a proactive cap, fifteen megaliters per day from day one, applied from the moment the first data center comes online. And D is staggered entry, where the four data centers do not arrive simultaneously but spread out over six years. All four scenarios run on the same fifty random seeds, with the same weather realizations and the same demand shocks. That means when we compare A to B or C to D, the only thing varying is the policy rule. Differences in outcomes can be attributed cleanly to the rule, not to a lucky or unlucky draw.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useful figure for understanding what the model produces. Each line is the mean basin storage across fifty runs, with one line per scenario. Look at A and B. They trace exactly the same line for the first six years. By the time the reactive cap fires at thirty percent, the system has already crossed the point of no return. The cap activates but the cliff is underneath you. C, the proactive cap, stays north of ninety percent the entire ten years, which is what we want. D, the staggered entry scenario, looks promising in the early years but converges on the same collapse point as A in the long run. The lesson here is that delay is not safety, and reactive policy is structurally too late.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 collapse timing. We ran fifty replicates of the unregulated scenario. Every single one of them crossed the critical-stress threshold within ten years. The mean time to collapse was six point zero seven years, with a standard deviation of zero point eight four years. The p-value against the null of no collapse within the predicted window is below ten to the minus twenty-one, which is to say, this is not a tail event, this is the mean behavior. The histogram on the left shows the distribution. Notice how tightly clustered it is. There is no lucky timeline. There is no run where the model just happens to dodge collapse. Under the unregulated scenario, collapse is not a risk, it is a prediction. That is the cleanest of the three results and it sets up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finding, and the one I want you to remember. H2 says the basin does not decline linearly. The drainage rate before the forty percent threshold is about zero point zero seven per year, basically a slow drift. After the basin crosses forty percent, the rate jumps to zero point six six per year. That is a nine point two five times acceleration, with a p-value below ten to the minus seventy-four across our replicates. The mechanism is straightforward and worth pausing on. When the basin is low, evaporative cooling becomes less efficient, because higher water temperatures and reduced tower performance mean each megawatt of compute requires more makeup water. The data centers draw more, which lowers the basin further, which makes cooling even less efficient. That is the positive feedback loop that gives you the cliff.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H3, policy effectiveness. We compared the four scenarios on time-to-critical-stress, on yield loss in agriculture, and on residual basin storage at year ten. The proactive cap, scenario C, delays the onset of critical stress by sixty-five percent relative to the unregulated baseline. The reactive cap, scenario B, delays it by exactly zero percent. Statistically and practically, B is indistinguishable from no policy at all. The reason is mechanical, not political. Triggering at thirty percent is well past the forty percent tipping point we identified in H2. By the time the cap activates, the positive-feedback regime is already running. The proactive policy works because it never lets the system enter the unstable regime in the first place. Set the cap before the data centers arrive, and you stay in the linear regime where regulation actually has leverage.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Pulling back, four discussion points. First, self-reporting from individual operators cannot tell you what is happening to the basin. You need a shared, real-time view, basin-level visibility. Second, reactive policy calibrated to conventional thresholds, like thirty percent storage, is structurally equivalent to no policy. It just signs off on the collapse a little later. Third, staggered entry buys time but not safety. The long-run equilibrium is the same. Fourth, and this is the punchline, the nine-times acceleration we found in H2 means that by the time politicians and the press are paying attention, the system is already in the cliff. Real-world parallels are not hypothetical here, think Phoenix, The Dalles in Oregon, Santiago in Chile. Real basins also have climate drift and contamination, which our model does not capture, and those make the situation worse, not better.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briefly. Our parameters are synthetic, drawn from the literature and calibrated for internal consistency, but they are not validated against any single real basin. We do not model climate-change drift, which would make recharge less reliable over time. We treat the basin as a closed system with no inter-basin trade. The regulator, once it observes the basin, has perfect information. Demand is exogenous, meaning households and farms do not respond to prices. And our agricultural yield loss is binary in a way real crops are not. On the future-work side, the most interesting extensions are inter-basin trade, climate scenarios with drifting recharge, modeling the actual permit process with the political delays it implies, and a calibration exercise against a real candidate basin in the Pacific Northwest or in Latin America.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three takeaways. First, under our model, unregulated AI growth collapses shared basins on a five to eight year timeline, not as a tail event but as the mean behavior. Second, the collapse is nonlinear: a nine times acceleration in decline rate once the basin crosses forty percent storage. Late warnings do not help, because by the time the warning fires you are already on the cliff. Third, the policy implication is unambiguous in our results: proactive caps work, reactive caps do not. If you want to keep the water on, you have to cap the draw before anyone asks you to. Thank you all for your attention. The code, data, and full paper are on the public repository at github dot com slash cup-noodlehS slash ABM-project. We would love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700000" y="1500000"/>
            <a:ext cx="11933333" cy="300000"/>
          </a:xfrm>
          <a:prstGeom prst="rect">
            <a:avLst/>
          </a:prstGeom>
          <a:noFill/>
        </p:spPr>
        <p:txBody>
          <a:bodyPr wrap="square" lIns="0" rIns="0" tIns="0" bIns="0" anchor="t">
            <a:spAutoFit/>
          </a:bodyPr>
          <a:lstStyle/>
          <a:p>
            <a:pPr algn="l"/>
            <a:r>
              <a:rPr sz="1100" b="1" i="0">
                <a:solidFill>
                  <a:srgbClr val="C15F3C"/>
                </a:solidFill>
                <a:latin typeface="Helvetica Neue"/>
              </a:rPr>
              <a:t>CMSC 176, FINAL PROJECT</a:t>
            </a:r>
          </a:p>
        </p:txBody>
      </p:sp>
      <p:sp>
        <p:nvSpPr>
          <p:cNvPr id="3" name="TextBox 2"/>
          <p:cNvSpPr txBox="1"/>
          <p:nvPr/>
        </p:nvSpPr>
        <p:spPr>
          <a:xfrm>
            <a:off x="700000" y="1900000"/>
            <a:ext cx="11933333" cy="1600000"/>
          </a:xfrm>
          <a:prstGeom prst="rect">
            <a:avLst/>
          </a:prstGeom>
          <a:noFill/>
        </p:spPr>
        <p:txBody>
          <a:bodyPr wrap="square" lIns="0" rIns="0" tIns="0" bIns="0" anchor="t">
            <a:spAutoFit/>
          </a:bodyPr>
          <a:lstStyle/>
          <a:p>
            <a:pPr algn="l"/>
            <a:r>
              <a:rPr sz="5400" b="1" i="0">
                <a:solidFill>
                  <a:srgbClr val="1F1E1D"/>
                </a:solidFill>
                <a:latin typeface="Georgia"/>
              </a:rPr>
              <a:t>PARCHED: When AI Drinks</a:t>
            </a:r>
          </a:p>
          <a:p>
            <a:pPr algn="l"/>
            <a:r>
              <a:rPr sz="5400" b="1" i="0">
                <a:solidFill>
                  <a:srgbClr val="1F1E1D"/>
                </a:solidFill>
                <a:latin typeface="Georgia"/>
              </a:rPr>
              <a:t>Your Town Dry</a:t>
            </a:r>
          </a:p>
        </p:txBody>
      </p:sp>
      <p:sp>
        <p:nvSpPr>
          <p:cNvPr id="4" name="TextBox 3"/>
          <p:cNvSpPr txBox="1"/>
          <p:nvPr/>
        </p:nvSpPr>
        <p:spPr>
          <a:xfrm>
            <a:off x="700000" y="3850000"/>
            <a:ext cx="11933333" cy="600000"/>
          </a:xfrm>
          <a:prstGeom prst="rect">
            <a:avLst/>
          </a:prstGeom>
          <a:noFill/>
        </p:spPr>
        <p:txBody>
          <a:bodyPr wrap="square" lIns="0" rIns="0" tIns="0" bIns="0" anchor="t">
            <a:spAutoFit/>
          </a:bodyPr>
          <a:lstStyle/>
          <a:p>
            <a:pPr algn="l"/>
            <a:r>
              <a:rPr sz="2200" b="0" i="1">
                <a:solidFill>
                  <a:srgbClr val="605E5B"/>
                </a:solidFill>
                <a:latin typeface="Georgia"/>
              </a:rPr>
              <a:t>An Agent-Based Model of Hyperscaler Water Competition</a:t>
            </a:r>
          </a:p>
        </p:txBody>
      </p:sp>
      <p:sp>
        <p:nvSpPr>
          <p:cNvPr id="5" name="TextBox 4"/>
          <p:cNvSpPr txBox="1"/>
          <p:nvPr/>
        </p:nvSpPr>
        <p:spPr>
          <a:xfrm>
            <a:off x="700000" y="4900000"/>
            <a:ext cx="11933333" cy="420000"/>
          </a:xfrm>
          <a:prstGeom prst="rect">
            <a:avLst/>
          </a:prstGeom>
          <a:noFill/>
        </p:spPr>
        <p:txBody>
          <a:bodyPr wrap="square" lIns="0" rIns="0" tIns="0" bIns="0" anchor="t">
            <a:spAutoFit/>
          </a:bodyPr>
          <a:lstStyle/>
          <a:p>
            <a:pPr algn="l"/>
            <a:r>
              <a:rPr sz="1600" b="1" i="0">
                <a:solidFill>
                  <a:srgbClr val="1F1E1D"/>
                </a:solidFill>
                <a:latin typeface="Helvetica Neue"/>
              </a:rPr>
              <a:t>Sheldon Arthur Sagrado   /   Jed Edison Donaire</a:t>
            </a:r>
          </a:p>
        </p:txBody>
      </p:sp>
      <p:sp>
        <p:nvSpPr>
          <p:cNvPr id="6" name="TextBox 5"/>
          <p:cNvSpPr txBox="1"/>
          <p:nvPr/>
        </p:nvSpPr>
        <p:spPr>
          <a:xfrm>
            <a:off x="700000" y="5300000"/>
            <a:ext cx="11933333" cy="350000"/>
          </a:xfrm>
          <a:prstGeom prst="rect">
            <a:avLst/>
          </a:prstGeom>
          <a:noFill/>
        </p:spPr>
        <p:txBody>
          <a:bodyPr wrap="square" lIns="0" rIns="0" tIns="0" bIns="0" anchor="t">
            <a:spAutoFit/>
          </a:bodyPr>
          <a:lstStyle/>
          <a:p>
            <a:pPr algn="l"/>
            <a:r>
              <a:rPr sz="1100" b="0" i="0">
                <a:solidFill>
                  <a:srgbClr val="605E5B"/>
                </a:solidFill>
                <a:latin typeface="Helvetica Neue"/>
              </a:rPr>
              <a:t>smsagrado@up.edu.ph    jjdonaire@up.edu.ph</a:t>
            </a:r>
          </a:p>
        </p:txBody>
      </p:sp>
      <p:sp>
        <p:nvSpPr>
          <p:cNvPr id="7" name="TextBox 6"/>
          <p:cNvSpPr txBox="1"/>
          <p:nvPr/>
        </p:nvSpPr>
        <p:spPr>
          <a:xfrm>
            <a:off x="700000" y="5650000"/>
            <a:ext cx="11933333" cy="300000"/>
          </a:xfrm>
          <a:prstGeom prst="rect">
            <a:avLst/>
          </a:prstGeom>
          <a:noFill/>
        </p:spPr>
        <p:txBody>
          <a:bodyPr wrap="square" lIns="0" rIns="0" tIns="0" bIns="0" anchor="t">
            <a:spAutoFit/>
          </a:bodyPr>
          <a:lstStyle/>
          <a:p>
            <a:pPr algn="l"/>
            <a:r>
              <a:rPr sz="1000" b="0" i="1">
                <a:solidFill>
                  <a:srgbClr val="605E5B"/>
                </a:solidFill>
                <a:latin typeface="Helvetica Neue"/>
              </a:rPr>
              <a:t>Equal contribution.</a:t>
            </a:r>
          </a:p>
        </p:txBody>
      </p:sp>
      <p:sp>
        <p:nvSpPr>
          <p:cNvPr id="8" name="TextBox 7"/>
          <p:cNvSpPr txBox="1"/>
          <p:nvPr/>
        </p:nvSpPr>
        <p:spPr>
          <a:xfrm>
            <a:off x="700000" y="6150000"/>
            <a:ext cx="11933333" cy="350000"/>
          </a:xfrm>
          <a:prstGeom prst="rect">
            <a:avLst/>
          </a:prstGeom>
          <a:noFill/>
        </p:spPr>
        <p:txBody>
          <a:bodyPr wrap="square" lIns="0" rIns="0" tIns="0" bIns="0" anchor="t">
            <a:spAutoFit/>
          </a:bodyPr>
          <a:lstStyle/>
          <a:p>
            <a:pPr algn="l"/>
            <a:r>
              <a:rPr sz="1100" b="0" i="0">
                <a:solidFill>
                  <a:srgbClr val="605E5B"/>
                </a:solidFill>
                <a:latin typeface="Helvetica Neue"/>
              </a:rPr>
              <a:t>CMSC 176, AY 2025-2026, University of the Philippines Cebu</a:t>
            </a:r>
          </a:p>
        </p:txBody>
      </p:sp>
      <p:sp>
        <p:nvSpPr>
          <p:cNvPr id="9" name="TextBox 8"/>
          <p:cNvSpPr txBox="1"/>
          <p:nvPr/>
        </p:nvSpPr>
        <p:spPr>
          <a:xfrm>
            <a:off x="700000" y="6480000"/>
            <a:ext cx="11933333" cy="300000"/>
          </a:xfrm>
          <a:prstGeom prst="rect">
            <a:avLst/>
          </a:prstGeom>
          <a:noFill/>
        </p:spPr>
        <p:txBody>
          <a:bodyPr wrap="square" lIns="0" rIns="0" tIns="0" bIns="0" anchor="t">
            <a:spAutoFit/>
          </a:bodyPr>
          <a:lstStyle/>
          <a:p>
            <a:pPr algn="l"/>
            <a:r>
              <a:rPr sz="1100" b="0" i="0">
                <a:solidFill>
                  <a:srgbClr val="605E5B"/>
                </a:solidFill>
                <a:latin typeface="Helvetica Neue"/>
              </a:rPr>
              <a:t>May 2026</a:t>
            </a:r>
          </a:p>
        </p:txBody>
      </p:sp>
      <p:sp>
        <p:nvSpPr>
          <p:cNvPr id="10" name="TextBox 9"/>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11" name="TextBox 10"/>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The Hook</a:t>
            </a:r>
          </a:p>
        </p:txBody>
      </p:sp>
      <p:sp>
        <p:nvSpPr>
          <p:cNvPr id="4" name="TextBox 3"/>
          <p:cNvSpPr txBox="1"/>
          <p:nvPr/>
        </p:nvSpPr>
        <p:spPr>
          <a:xfrm>
            <a:off x="700000" y="2000000"/>
            <a:ext cx="11933333" cy="1500000"/>
          </a:xfrm>
          <a:prstGeom prst="rect">
            <a:avLst/>
          </a:prstGeom>
          <a:noFill/>
        </p:spPr>
        <p:txBody>
          <a:bodyPr wrap="square" lIns="0" rIns="0" tIns="0" bIns="0" anchor="t">
            <a:spAutoFit/>
          </a:bodyPr>
          <a:lstStyle/>
          <a:p>
            <a:pPr algn="l"/>
            <a:r>
              <a:rPr sz="7200" b="1" i="0">
                <a:solidFill>
                  <a:srgbClr val="C15F3C"/>
                </a:solidFill>
                <a:latin typeface="Georgia"/>
              </a:rPr>
              <a:t>3 to 5 million liters</a:t>
            </a:r>
          </a:p>
        </p:txBody>
      </p:sp>
      <p:sp>
        <p:nvSpPr>
          <p:cNvPr id="5" name="TextBox 4"/>
          <p:cNvSpPr txBox="1"/>
          <p:nvPr/>
        </p:nvSpPr>
        <p:spPr>
          <a:xfrm>
            <a:off x="700000" y="3500000"/>
            <a:ext cx="11933333" cy="500000"/>
          </a:xfrm>
          <a:prstGeom prst="rect">
            <a:avLst/>
          </a:prstGeom>
          <a:noFill/>
        </p:spPr>
        <p:txBody>
          <a:bodyPr wrap="square" lIns="0" rIns="0" tIns="0" bIns="0" anchor="t">
            <a:spAutoFit/>
          </a:bodyPr>
          <a:lstStyle/>
          <a:p>
            <a:pPr algn="l"/>
            <a:r>
              <a:rPr sz="2200" b="0" i="1">
                <a:solidFill>
                  <a:srgbClr val="1F1E1D"/>
                </a:solidFill>
                <a:latin typeface="Georgia"/>
              </a:rPr>
              <a:t>per day, per hyperscale data center.</a:t>
            </a:r>
          </a:p>
        </p:txBody>
      </p:sp>
      <p:sp>
        <p:nvSpPr>
          <p:cNvPr id="6" name="TextBox 5"/>
          <p:cNvSpPr txBox="1"/>
          <p:nvPr/>
        </p:nvSpPr>
        <p:spPr>
          <a:xfrm>
            <a:off x="700000" y="4700000"/>
            <a:ext cx="11933333" cy="700000"/>
          </a:xfrm>
          <a:prstGeom prst="rect">
            <a:avLst/>
          </a:prstGeom>
          <a:noFill/>
        </p:spPr>
        <p:txBody>
          <a:bodyPr wrap="square" lIns="0" rIns="0" tIns="0" bIns="0" anchor="t">
            <a:spAutoFit/>
          </a:bodyPr>
          <a:lstStyle/>
          <a:p>
            <a:pPr algn="l"/>
            <a:r>
              <a:rPr sz="2200" b="1" i="0">
                <a:solidFill>
                  <a:srgbClr val="1F1E1D"/>
                </a:solidFill>
                <a:latin typeface="Helvetica Neue"/>
              </a:rPr>
              <a:t>And nobody is modeling the basin-level collisions.</a:t>
            </a:r>
          </a:p>
        </p:txBody>
      </p:sp>
      <p:sp>
        <p:nvSpPr>
          <p:cNvPr id="7" name="TextBox 6"/>
          <p:cNvSpPr txBox="1"/>
          <p:nvPr/>
        </p:nvSpPr>
        <p:spPr>
          <a:xfrm>
            <a:off x="700000" y="5500000"/>
            <a:ext cx="11933333" cy="500000"/>
          </a:xfrm>
          <a:prstGeom prst="rect">
            <a:avLst/>
          </a:prstGeom>
          <a:noFill/>
        </p:spPr>
        <p:txBody>
          <a:bodyPr wrap="square" lIns="0" rIns="0" tIns="0" bIns="0" anchor="t">
            <a:spAutoFit/>
          </a:bodyPr>
          <a:lstStyle/>
          <a:p>
            <a:pPr algn="l"/>
            <a:r>
              <a:rPr sz="1000" b="0" i="0">
                <a:solidFill>
                  <a:srgbClr val="605E5B"/>
                </a:solidFill>
                <a:latin typeface="Helvetica Neue"/>
              </a:rPr>
              <a:t>Source: Li et al. (2023), "Making AI Less Thirsty."</a:t>
            </a:r>
          </a:p>
        </p:txBody>
      </p:sp>
      <p:sp>
        <p:nvSpPr>
          <p:cNvPr id="8" name="TextBox 7"/>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9" name="TextBox 8"/>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Problem and Research Question</a:t>
            </a:r>
          </a:p>
        </p:txBody>
      </p:sp>
      <p:sp>
        <p:nvSpPr>
          <p:cNvPr id="4" name="TextBox 3"/>
          <p:cNvSpPr txBox="1"/>
          <p:nvPr/>
        </p:nvSpPr>
        <p:spPr>
          <a:xfrm>
            <a:off x="700000" y="1700000"/>
            <a:ext cx="5800000" cy="400000"/>
          </a:xfrm>
          <a:prstGeom prst="rect">
            <a:avLst/>
          </a:prstGeom>
          <a:noFill/>
        </p:spPr>
        <p:txBody>
          <a:bodyPr wrap="square" lIns="0" rIns="0" tIns="0" bIns="0" anchor="t">
            <a:spAutoFit/>
          </a:bodyPr>
          <a:lstStyle/>
          <a:p>
            <a:pPr algn="l"/>
            <a:r>
              <a:rPr sz="1100" b="1" i="0">
                <a:solidFill>
                  <a:srgbClr val="C15F3C"/>
                </a:solidFill>
                <a:latin typeface="Helvetica Neue"/>
              </a:rPr>
              <a:t>THE SETUP</a:t>
            </a:r>
          </a:p>
        </p:txBody>
      </p:sp>
      <p:sp>
        <p:nvSpPr>
          <p:cNvPr id="5" name="TextBox 4"/>
          <p:cNvSpPr txBox="1"/>
          <p:nvPr/>
        </p:nvSpPr>
        <p:spPr>
          <a:xfrm>
            <a:off x="700000" y="2150000"/>
            <a:ext cx="5800000" cy="3800000"/>
          </a:xfrm>
          <a:prstGeom prst="rect">
            <a:avLst/>
          </a:prstGeom>
          <a:noFill/>
        </p:spPr>
        <p:txBody>
          <a:bodyPr wrap="square" lIns="0" rIns="0" tIns="0" bIns="0" anchor="t">
            <a:spAutoFit/>
          </a:bodyPr>
          <a:lstStyle/>
          <a:p>
            <a:pPr algn="l">
              <a:lnSpc>
                <a:spcPct val="145000"/>
              </a:lnSpc>
            </a:pPr>
            <a:r>
              <a:rPr sz="1600" b="1">
                <a:solidFill>
                  <a:srgbClr val="C15F3C"/>
                </a:solidFill>
                <a:latin typeface="Helvetica Neue"/>
              </a:rPr>
              <a:t>·  </a:t>
            </a:r>
            <a:r>
              <a:rPr sz="1600">
                <a:solidFill>
                  <a:srgbClr val="1F1E1D"/>
                </a:solidFill>
                <a:latin typeface="Helvetica Neue"/>
              </a:rPr>
              <a:t>One shared freshwater basin (30 BL capacity)</a:t>
            </a:r>
          </a:p>
          <a:p>
            <a:pPr algn="l">
              <a:lnSpc>
                <a:spcPct val="145000"/>
              </a:lnSpc>
            </a:pPr>
            <a:r>
              <a:rPr sz="1600" b="1">
                <a:solidFill>
                  <a:srgbClr val="C15F3C"/>
                </a:solidFill>
                <a:latin typeface="Helvetica Neue"/>
              </a:rPr>
              <a:t>·  </a:t>
            </a:r>
            <a:r>
              <a:rPr sz="1600">
                <a:solidFill>
                  <a:srgbClr val="1F1E1D"/>
                </a:solidFill>
                <a:latin typeface="Helvetica Neue"/>
              </a:rPr>
              <a:t>Multiple data centers competing for cooling water</a:t>
            </a:r>
          </a:p>
          <a:p>
            <a:pPr algn="l">
              <a:lnSpc>
                <a:spcPct val="145000"/>
              </a:lnSpc>
            </a:pPr>
            <a:r>
              <a:rPr sz="1600" b="1">
                <a:solidFill>
                  <a:srgbClr val="C15F3C"/>
                </a:solidFill>
                <a:latin typeface="Helvetica Neue"/>
              </a:rPr>
              <a:t>·  </a:t>
            </a:r>
            <a:r>
              <a:rPr sz="1600">
                <a:solidFill>
                  <a:srgbClr val="1F1E1D"/>
                </a:solidFill>
                <a:latin typeface="Helvetica Neue"/>
              </a:rPr>
              <a:t>Residential demand (~100k people)</a:t>
            </a:r>
          </a:p>
          <a:p>
            <a:pPr algn="l">
              <a:lnSpc>
                <a:spcPct val="145000"/>
              </a:lnSpc>
            </a:pPr>
            <a:r>
              <a:rPr sz="1600" b="1">
                <a:solidFill>
                  <a:srgbClr val="C15F3C"/>
                </a:solidFill>
                <a:latin typeface="Helvetica Neue"/>
              </a:rPr>
              <a:t>·  </a:t>
            </a:r>
            <a:r>
              <a:rPr sz="1600">
                <a:solidFill>
                  <a:srgbClr val="1F1E1D"/>
                </a:solidFill>
                <a:latin typeface="Helvetica Neue"/>
              </a:rPr>
              <a:t>Agriculture (rainfed and irrigated fields)</a:t>
            </a:r>
          </a:p>
          <a:p>
            <a:pPr algn="l">
              <a:lnSpc>
                <a:spcPct val="145000"/>
              </a:lnSpc>
            </a:pPr>
            <a:r>
              <a:rPr sz="1600" b="1">
                <a:solidFill>
                  <a:srgbClr val="C15F3C"/>
                </a:solidFill>
                <a:latin typeface="Helvetica Neue"/>
              </a:rPr>
              <a:t>·  </a:t>
            </a:r>
            <a:r>
              <a:rPr sz="1600">
                <a:solidFill>
                  <a:srgbClr val="1F1E1D"/>
                </a:solidFill>
                <a:latin typeface="Helvetica Neue"/>
              </a:rPr>
              <a:t>A regulator with delayed observability</a:t>
            </a:r>
          </a:p>
        </p:txBody>
      </p:sp>
      <p:sp>
        <p:nvSpPr>
          <p:cNvPr id="6" name="TextBox 5"/>
          <p:cNvSpPr txBox="1"/>
          <p:nvPr/>
        </p:nvSpPr>
        <p:spPr>
          <a:xfrm>
            <a:off x="7000000" y="1700000"/>
            <a:ext cx="5800000" cy="400000"/>
          </a:xfrm>
          <a:prstGeom prst="rect">
            <a:avLst/>
          </a:prstGeom>
          <a:noFill/>
        </p:spPr>
        <p:txBody>
          <a:bodyPr wrap="square" lIns="0" rIns="0" tIns="0" bIns="0" anchor="t">
            <a:spAutoFit/>
          </a:bodyPr>
          <a:lstStyle/>
          <a:p>
            <a:pPr algn="l"/>
            <a:r>
              <a:rPr sz="1100" b="1" i="0">
                <a:solidFill>
                  <a:srgbClr val="C15F3C"/>
                </a:solidFill>
                <a:latin typeface="Helvetica Neue"/>
              </a:rPr>
              <a:t>THE QUESTION</a:t>
            </a:r>
          </a:p>
        </p:txBody>
      </p:sp>
      <p:sp>
        <p:nvSpPr>
          <p:cNvPr id="7" name="TextBox 6"/>
          <p:cNvSpPr txBox="1"/>
          <p:nvPr/>
        </p:nvSpPr>
        <p:spPr>
          <a:xfrm>
            <a:off x="7000000" y="2150000"/>
            <a:ext cx="5800000" cy="2200000"/>
          </a:xfrm>
          <a:prstGeom prst="rect">
            <a:avLst/>
          </a:prstGeom>
          <a:noFill/>
        </p:spPr>
        <p:txBody>
          <a:bodyPr wrap="square" lIns="0" rIns="0" tIns="0" bIns="0" anchor="t">
            <a:spAutoFit/>
          </a:bodyPr>
          <a:lstStyle/>
          <a:p>
            <a:pPr algn="l"/>
            <a:r>
              <a:rPr sz="2200" b="1" i="0">
                <a:solidFill>
                  <a:srgbClr val="1F1E1D"/>
                </a:solidFill>
                <a:latin typeface="Georgia"/>
              </a:rPr>
              <a:t>What happens when self-interested data centers, blind to each other, share a finite basin?</a:t>
            </a:r>
          </a:p>
        </p:txBody>
      </p:sp>
      <p:sp>
        <p:nvSpPr>
          <p:cNvPr id="8" name="TextBox 7"/>
          <p:cNvSpPr txBox="1"/>
          <p:nvPr/>
        </p:nvSpPr>
        <p:spPr>
          <a:xfrm>
            <a:off x="7000000" y="4700000"/>
            <a:ext cx="5800000" cy="1500000"/>
          </a:xfrm>
          <a:prstGeom prst="rect">
            <a:avLst/>
          </a:prstGeom>
          <a:noFill/>
        </p:spPr>
        <p:txBody>
          <a:bodyPr wrap="square" lIns="0" rIns="0" tIns="0" bIns="0" anchor="t">
            <a:spAutoFit/>
          </a:bodyPr>
          <a:lstStyle/>
          <a:p>
            <a:pPr algn="l"/>
            <a:r>
              <a:rPr sz="1400" b="0" i="1">
                <a:solidFill>
                  <a:srgbClr val="605E5B"/>
                </a:solidFill>
                <a:latin typeface="Helvetica Neue"/>
              </a:rPr>
              <a:t>No coordination. No shared meter. No price signal until things break.</a:t>
            </a:r>
          </a:p>
        </p:txBody>
      </p:sp>
      <p:sp>
        <p:nvSpPr>
          <p:cNvPr id="9" name="TextBox 8"/>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10" name="TextBox 9"/>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Objectives</a:t>
            </a:r>
          </a:p>
        </p:txBody>
      </p:sp>
      <p:sp>
        <p:nvSpPr>
          <p:cNvPr id="4" name="TextBox 3"/>
          <p:cNvSpPr txBox="1"/>
          <p:nvPr/>
        </p:nvSpPr>
        <p:spPr>
          <a:xfrm>
            <a:off x="700000" y="2100000"/>
            <a:ext cx="11933333" cy="3500000"/>
          </a:xfrm>
          <a:prstGeom prst="rect">
            <a:avLst/>
          </a:prstGeom>
          <a:noFill/>
        </p:spPr>
        <p:txBody>
          <a:bodyPr wrap="square" lIns="0" rIns="0" tIns="0" bIns="0" anchor="t">
            <a:spAutoFit/>
          </a:bodyPr>
          <a:lstStyle/>
          <a:p>
            <a:pPr algn="l">
              <a:lnSpc>
                <a:spcPct val="160000"/>
              </a:lnSpc>
            </a:pPr>
            <a:r>
              <a:rPr sz="2000" b="1">
                <a:solidFill>
                  <a:srgbClr val="C15F3C"/>
                </a:solidFill>
                <a:latin typeface="Helvetica Neue"/>
              </a:rPr>
              <a:t>·  </a:t>
            </a:r>
            <a:r>
              <a:rPr sz="2000">
                <a:solidFill>
                  <a:srgbClr val="1F1E1D"/>
                </a:solidFill>
                <a:latin typeface="Helvetica Neue"/>
              </a:rPr>
              <a:t>Build a calibrated agent-based model of basin-level water competition</a:t>
            </a:r>
          </a:p>
          <a:p>
            <a:pPr algn="l">
              <a:lnSpc>
                <a:spcPct val="160000"/>
              </a:lnSpc>
            </a:pPr>
            <a:r>
              <a:rPr sz="2000" b="1">
                <a:solidFill>
                  <a:srgbClr val="C15F3C"/>
                </a:solidFill>
                <a:latin typeface="Helvetica Neue"/>
              </a:rPr>
              <a:t>·  </a:t>
            </a:r>
            <a:r>
              <a:rPr sz="2000">
                <a:solidFill>
                  <a:srgbClr val="1F1E1D"/>
                </a:solidFill>
                <a:latin typeface="Helvetica Neue"/>
              </a:rPr>
              <a:t>Test three hypotheses about collapse timing, nonlinearity, and policy effect</a:t>
            </a:r>
          </a:p>
          <a:p>
            <a:pPr algn="l">
              <a:lnSpc>
                <a:spcPct val="160000"/>
              </a:lnSpc>
            </a:pPr>
            <a:r>
              <a:rPr sz="2000" b="1">
                <a:solidFill>
                  <a:srgbClr val="C15F3C"/>
                </a:solidFill>
                <a:latin typeface="Helvetica Neue"/>
              </a:rPr>
              <a:t>·  </a:t>
            </a:r>
            <a:r>
              <a:rPr sz="2000">
                <a:solidFill>
                  <a:srgbClr val="1F1E1D"/>
                </a:solidFill>
                <a:latin typeface="Helvetica Neue"/>
              </a:rPr>
              <a:t>Compare four policy scenarios under matched stochastic conditions</a:t>
            </a:r>
          </a:p>
        </p:txBody>
      </p:sp>
      <p:sp>
        <p:nvSpPr>
          <p:cNvPr id="5" name="TextBox 4"/>
          <p:cNvSpPr txBox="1"/>
          <p:nvPr/>
        </p:nvSpPr>
        <p:spPr>
          <a:xfrm>
            <a:off x="700000" y="5800000"/>
            <a:ext cx="11933333" cy="500000"/>
          </a:xfrm>
          <a:prstGeom prst="rect">
            <a:avLst/>
          </a:prstGeom>
          <a:noFill/>
        </p:spPr>
        <p:txBody>
          <a:bodyPr wrap="square" lIns="0" rIns="0" tIns="0" bIns="0" anchor="t">
            <a:spAutoFit/>
          </a:bodyPr>
          <a:lstStyle/>
          <a:p>
            <a:pPr algn="l"/>
            <a:r>
              <a:rPr sz="1800" b="1" i="1">
                <a:solidFill>
                  <a:srgbClr val="C15F3C"/>
                </a:solidFill>
                <a:latin typeface="Georgia"/>
              </a:rPr>
              <a:t>Same seeds, same shocks, different rules.</a:t>
            </a:r>
          </a:p>
        </p:txBody>
      </p:sp>
      <p:sp>
        <p:nvSpPr>
          <p:cNvPr id="6" name="TextBox 5"/>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7" name="TextBox 6"/>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Hypotheses</a:t>
            </a:r>
          </a:p>
        </p:txBody>
      </p:sp>
      <p:sp>
        <p:nvSpPr>
          <p:cNvPr id="4" name="TextBox 3"/>
          <p:cNvSpPr txBox="1"/>
          <p:nvPr/>
        </p:nvSpPr>
        <p:spPr>
          <a:xfrm>
            <a:off x="700000" y="1900000"/>
            <a:ext cx="3900000" cy="400000"/>
          </a:xfrm>
          <a:prstGeom prst="rect">
            <a:avLst/>
          </a:prstGeom>
          <a:noFill/>
        </p:spPr>
        <p:txBody>
          <a:bodyPr wrap="square" lIns="0" rIns="0" tIns="0" bIns="0" anchor="t">
            <a:spAutoFit/>
          </a:bodyPr>
          <a:lstStyle/>
          <a:p>
            <a:pPr algn="l"/>
            <a:r>
              <a:rPr sz="1100" b="1" i="0">
                <a:solidFill>
                  <a:srgbClr val="C15F3C"/>
                </a:solidFill>
                <a:latin typeface="Helvetica Neue"/>
              </a:rPr>
              <a:t>H1   COLLAPSE</a:t>
            </a:r>
          </a:p>
        </p:txBody>
      </p:sp>
      <p:sp>
        <p:nvSpPr>
          <p:cNvPr id="5" name="TextBox 4"/>
          <p:cNvSpPr txBox="1"/>
          <p:nvPr/>
        </p:nvSpPr>
        <p:spPr>
          <a:xfrm>
            <a:off x="700000" y="2350000"/>
            <a:ext cx="3900000" cy="2200000"/>
          </a:xfrm>
          <a:prstGeom prst="rect">
            <a:avLst/>
          </a:prstGeom>
          <a:noFill/>
        </p:spPr>
        <p:txBody>
          <a:bodyPr wrap="square" lIns="0" rIns="0" tIns="0" bIns="0" anchor="t">
            <a:spAutoFit/>
          </a:bodyPr>
          <a:lstStyle/>
          <a:p>
            <a:pPr algn="l"/>
            <a:r>
              <a:rPr sz="2000" b="1" i="0">
                <a:solidFill>
                  <a:srgbClr val="1F1E1D"/>
                </a:solidFill>
                <a:latin typeface="Georgia"/>
              </a:rPr>
              <a:t>Unregulated growth collapses the basin in 5 to 8 years.</a:t>
            </a:r>
          </a:p>
        </p:txBody>
      </p:sp>
      <p:sp>
        <p:nvSpPr>
          <p:cNvPr id="6" name="TextBox 5"/>
          <p:cNvSpPr txBox="1"/>
          <p:nvPr/>
        </p:nvSpPr>
        <p:spPr>
          <a:xfrm>
            <a:off x="700000" y="4250000"/>
            <a:ext cx="3900000" cy="1800000"/>
          </a:xfrm>
          <a:prstGeom prst="rect">
            <a:avLst/>
          </a:prstGeom>
          <a:noFill/>
        </p:spPr>
        <p:txBody>
          <a:bodyPr wrap="square" lIns="0" rIns="0" tIns="0" bIns="0" anchor="t">
            <a:spAutoFit/>
          </a:bodyPr>
          <a:lstStyle/>
          <a:p>
            <a:pPr algn="l"/>
            <a:r>
              <a:rPr sz="1300" b="0" i="0">
                <a:solidFill>
                  <a:srgbClr val="605E5B"/>
                </a:solidFill>
                <a:latin typeface="Helvetica Neue"/>
              </a:rPr>
              <a:t>Critical-stress crossing under no policy, across 50 replicate runs.</a:t>
            </a:r>
          </a:p>
        </p:txBody>
      </p:sp>
      <p:sp>
        <p:nvSpPr>
          <p:cNvPr id="7" name="TextBox 6"/>
          <p:cNvSpPr txBox="1"/>
          <p:nvPr/>
        </p:nvSpPr>
        <p:spPr>
          <a:xfrm>
            <a:off x="4850000" y="1900000"/>
            <a:ext cx="3900000" cy="400000"/>
          </a:xfrm>
          <a:prstGeom prst="rect">
            <a:avLst/>
          </a:prstGeom>
          <a:noFill/>
        </p:spPr>
        <p:txBody>
          <a:bodyPr wrap="square" lIns="0" rIns="0" tIns="0" bIns="0" anchor="t">
            <a:spAutoFit/>
          </a:bodyPr>
          <a:lstStyle/>
          <a:p>
            <a:pPr algn="l"/>
            <a:r>
              <a:rPr sz="1100" b="1" i="0">
                <a:solidFill>
                  <a:srgbClr val="C15F3C"/>
                </a:solidFill>
                <a:latin typeface="Helvetica Neue"/>
              </a:rPr>
              <a:t>H2   TIPPING POINT</a:t>
            </a:r>
          </a:p>
        </p:txBody>
      </p:sp>
      <p:sp>
        <p:nvSpPr>
          <p:cNvPr id="8" name="TextBox 7"/>
          <p:cNvSpPr txBox="1"/>
          <p:nvPr/>
        </p:nvSpPr>
        <p:spPr>
          <a:xfrm>
            <a:off x="4850000" y="2350000"/>
            <a:ext cx="3900000" cy="2200000"/>
          </a:xfrm>
          <a:prstGeom prst="rect">
            <a:avLst/>
          </a:prstGeom>
          <a:noFill/>
        </p:spPr>
        <p:txBody>
          <a:bodyPr wrap="square" lIns="0" rIns="0" tIns="0" bIns="0" anchor="t">
            <a:spAutoFit/>
          </a:bodyPr>
          <a:lstStyle/>
          <a:p>
            <a:pPr algn="l"/>
            <a:r>
              <a:rPr sz="2000" b="1" i="0">
                <a:solidFill>
                  <a:srgbClr val="1F1E1D"/>
                </a:solidFill>
                <a:latin typeface="Georgia"/>
              </a:rPr>
              <a:t>Decline becomes nonlinear once basin storage drops below 40%.</a:t>
            </a:r>
          </a:p>
        </p:txBody>
      </p:sp>
      <p:sp>
        <p:nvSpPr>
          <p:cNvPr id="9" name="TextBox 8"/>
          <p:cNvSpPr txBox="1"/>
          <p:nvPr/>
        </p:nvSpPr>
        <p:spPr>
          <a:xfrm>
            <a:off x="4850000" y="4250000"/>
            <a:ext cx="3900000" cy="1800000"/>
          </a:xfrm>
          <a:prstGeom prst="rect">
            <a:avLst/>
          </a:prstGeom>
          <a:noFill/>
        </p:spPr>
        <p:txBody>
          <a:bodyPr wrap="square" lIns="0" rIns="0" tIns="0" bIns="0" anchor="t">
            <a:spAutoFit/>
          </a:bodyPr>
          <a:lstStyle/>
          <a:p>
            <a:pPr algn="l"/>
            <a:r>
              <a:rPr sz="1300" b="0" i="0">
                <a:solidFill>
                  <a:srgbClr val="605E5B"/>
                </a:solidFill>
                <a:latin typeface="Helvetica Neue"/>
              </a:rPr>
              <a:t>Cooling-stress positive feedback amplifies withdrawals as headroom shrinks.</a:t>
            </a:r>
          </a:p>
        </p:txBody>
      </p:sp>
      <p:sp>
        <p:nvSpPr>
          <p:cNvPr id="10" name="TextBox 9"/>
          <p:cNvSpPr txBox="1"/>
          <p:nvPr/>
        </p:nvSpPr>
        <p:spPr>
          <a:xfrm>
            <a:off x="9000000" y="1900000"/>
            <a:ext cx="3900000" cy="400000"/>
          </a:xfrm>
          <a:prstGeom prst="rect">
            <a:avLst/>
          </a:prstGeom>
          <a:noFill/>
        </p:spPr>
        <p:txBody>
          <a:bodyPr wrap="square" lIns="0" rIns="0" tIns="0" bIns="0" anchor="t">
            <a:spAutoFit/>
          </a:bodyPr>
          <a:lstStyle/>
          <a:p>
            <a:pPr algn="l"/>
            <a:r>
              <a:rPr sz="1100" b="1" i="0">
                <a:solidFill>
                  <a:srgbClr val="C15F3C"/>
                </a:solidFill>
                <a:latin typeface="Helvetica Neue"/>
              </a:rPr>
              <a:t>H3   POLICY</a:t>
            </a:r>
          </a:p>
        </p:txBody>
      </p:sp>
      <p:sp>
        <p:nvSpPr>
          <p:cNvPr id="11" name="TextBox 10"/>
          <p:cNvSpPr txBox="1"/>
          <p:nvPr/>
        </p:nvSpPr>
        <p:spPr>
          <a:xfrm>
            <a:off x="9000000" y="2350000"/>
            <a:ext cx="3900000" cy="2200000"/>
          </a:xfrm>
          <a:prstGeom prst="rect">
            <a:avLst/>
          </a:prstGeom>
          <a:noFill/>
        </p:spPr>
        <p:txBody>
          <a:bodyPr wrap="square" lIns="0" rIns="0" tIns="0" bIns="0" anchor="t">
            <a:spAutoFit/>
          </a:bodyPr>
          <a:lstStyle/>
          <a:p>
            <a:pPr algn="l"/>
            <a:r>
              <a:rPr sz="2000" b="1" i="0">
                <a:solidFill>
                  <a:srgbClr val="1F1E1D"/>
                </a:solidFill>
                <a:latin typeface="Georgia"/>
              </a:rPr>
              <a:t>Proactive caps delay critical stress by 40% or more.</a:t>
            </a:r>
          </a:p>
        </p:txBody>
      </p:sp>
      <p:sp>
        <p:nvSpPr>
          <p:cNvPr id="12" name="TextBox 11"/>
          <p:cNvSpPr txBox="1"/>
          <p:nvPr/>
        </p:nvSpPr>
        <p:spPr>
          <a:xfrm>
            <a:off x="9000000" y="4250000"/>
            <a:ext cx="3900000" cy="1800000"/>
          </a:xfrm>
          <a:prstGeom prst="rect">
            <a:avLst/>
          </a:prstGeom>
          <a:noFill/>
        </p:spPr>
        <p:txBody>
          <a:bodyPr wrap="square" lIns="0" rIns="0" tIns="0" bIns="0" anchor="t">
            <a:spAutoFit/>
          </a:bodyPr>
          <a:lstStyle/>
          <a:p>
            <a:pPr algn="l"/>
            <a:r>
              <a:rPr sz="1300" b="0" i="0">
                <a:solidFill>
                  <a:srgbClr val="605E5B"/>
                </a:solidFill>
                <a:latin typeface="Helvetica Neue"/>
              </a:rPr>
              <a:t>Reactive caps and staggered entry do not, once measured against matched seeds.</a:t>
            </a:r>
          </a:p>
        </p:txBody>
      </p:sp>
      <p:sp>
        <p:nvSpPr>
          <p:cNvPr id="13" name="TextBox 12"/>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14" name="TextBox 13"/>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Model Overview</a:t>
            </a:r>
          </a:p>
        </p:txBody>
      </p:sp>
      <p:sp>
        <p:nvSpPr>
          <p:cNvPr id="4" name="TextBox 3"/>
          <p:cNvSpPr txBox="1"/>
          <p:nvPr/>
        </p:nvSpPr>
        <p:spPr>
          <a:xfrm>
            <a:off x="700000" y="1800000"/>
            <a:ext cx="5400000" cy="4500000"/>
          </a:xfrm>
          <a:prstGeom prst="rect">
            <a:avLst/>
          </a:prstGeom>
          <a:noFill/>
        </p:spPr>
        <p:txBody>
          <a:bodyPr wrap="square" lIns="0" rIns="0" tIns="0" bIns="0" anchor="t">
            <a:spAutoFit/>
          </a:bodyPr>
          <a:lstStyle/>
          <a:p>
            <a:pPr algn="l">
              <a:lnSpc>
                <a:spcPct val="145000"/>
              </a:lnSpc>
            </a:pPr>
            <a:r>
              <a:rPr sz="1500" b="1">
                <a:solidFill>
                  <a:srgbClr val="C15F3C"/>
                </a:solidFill>
                <a:latin typeface="Helvetica Neue"/>
              </a:rPr>
              <a:t>·  </a:t>
            </a:r>
            <a:r>
              <a:rPr sz="1500">
                <a:solidFill>
                  <a:srgbClr val="1F1E1D"/>
                </a:solidFill>
                <a:latin typeface="Helvetica Neue"/>
              </a:rPr>
              <a:t>4 data centers (heterogeneous capacity)</a:t>
            </a:r>
          </a:p>
          <a:p>
            <a:pPr algn="l">
              <a:lnSpc>
                <a:spcPct val="145000"/>
              </a:lnSpc>
            </a:pPr>
            <a:r>
              <a:rPr sz="1500" b="1">
                <a:solidFill>
                  <a:srgbClr val="C15F3C"/>
                </a:solidFill>
                <a:latin typeface="Helvetica Neue"/>
              </a:rPr>
              <a:t>·  </a:t>
            </a:r>
            <a:r>
              <a:rPr sz="1500">
                <a:solidFill>
                  <a:srgbClr val="1F1E1D"/>
                </a:solidFill>
                <a:latin typeface="Helvetica Neue"/>
              </a:rPr>
              <a:t>2 farms (rainfed and irrigated)</a:t>
            </a:r>
          </a:p>
          <a:p>
            <a:pPr algn="l">
              <a:lnSpc>
                <a:spcPct val="145000"/>
              </a:lnSpc>
            </a:pPr>
            <a:r>
              <a:rPr sz="1500" b="1">
                <a:solidFill>
                  <a:srgbClr val="C15F3C"/>
                </a:solidFill>
                <a:latin typeface="Helvetica Neue"/>
              </a:rPr>
              <a:t>·  </a:t>
            </a:r>
            <a:r>
              <a:rPr sz="1500">
                <a:solidFill>
                  <a:srgbClr val="1F1E1D"/>
                </a:solidFill>
                <a:latin typeface="Helvetica Neue"/>
              </a:rPr>
              <a:t>100k residents (consumption from demand curve)</a:t>
            </a:r>
          </a:p>
          <a:p>
            <a:pPr algn="l">
              <a:lnSpc>
                <a:spcPct val="145000"/>
              </a:lnSpc>
            </a:pPr>
            <a:r>
              <a:rPr sz="1500" b="1">
                <a:solidFill>
                  <a:srgbClr val="C15F3C"/>
                </a:solidFill>
                <a:latin typeface="Helvetica Neue"/>
              </a:rPr>
              <a:t>·  </a:t>
            </a:r>
            <a:r>
              <a:rPr sz="1500">
                <a:solidFill>
                  <a:srgbClr val="1F1E1D"/>
                </a:solidFill>
                <a:latin typeface="Helvetica Neue"/>
              </a:rPr>
              <a:t>1 regulator (delayed observability)</a:t>
            </a:r>
          </a:p>
          <a:p>
            <a:pPr algn="l">
              <a:lnSpc>
                <a:spcPct val="145000"/>
              </a:lnSpc>
            </a:pPr>
            <a:r>
              <a:rPr sz="1500" b="1">
                <a:solidFill>
                  <a:srgbClr val="C15F3C"/>
                </a:solidFill>
                <a:latin typeface="Helvetica Neue"/>
              </a:rPr>
              <a:t>·  </a:t>
            </a:r>
            <a:r>
              <a:rPr sz="1500">
                <a:solidFill>
                  <a:srgbClr val="1F1E1D"/>
                </a:solidFill>
                <a:latin typeface="Helvetica Neue"/>
              </a:rPr>
              <a:t>30 BL shared basin, with stochastic recharge</a:t>
            </a:r>
          </a:p>
          <a:p>
            <a:pPr algn="l">
              <a:lnSpc>
                <a:spcPct val="145000"/>
              </a:lnSpc>
            </a:pPr>
            <a:r>
              <a:rPr sz="1500" b="1">
                <a:solidFill>
                  <a:srgbClr val="C15F3C"/>
                </a:solidFill>
                <a:latin typeface="Helvetica Neue"/>
              </a:rPr>
              <a:t>·  </a:t>
            </a:r>
            <a:r>
              <a:rPr sz="1500">
                <a:solidFill>
                  <a:srgbClr val="1F1E1D"/>
                </a:solidFill>
                <a:latin typeface="Helvetica Neue"/>
              </a:rPr>
              <a:t>All interactions mediated through the basin</a:t>
            </a:r>
          </a:p>
        </p:txBody>
      </p:sp>
      <p:sp>
        <p:nvSpPr>
          <p:cNvPr id="5" name="TextBox 4"/>
          <p:cNvSpPr txBox="1"/>
          <p:nvPr/>
        </p:nvSpPr>
        <p:spPr>
          <a:xfrm>
            <a:off x="700000" y="6000000"/>
            <a:ext cx="5400000" cy="400000"/>
          </a:xfrm>
          <a:prstGeom prst="rect">
            <a:avLst/>
          </a:prstGeom>
          <a:noFill/>
        </p:spPr>
        <p:txBody>
          <a:bodyPr wrap="square" lIns="0" rIns="0" tIns="0" bIns="0" anchor="t">
            <a:spAutoFit/>
          </a:bodyPr>
          <a:lstStyle/>
          <a:p>
            <a:pPr algn="l"/>
            <a:r>
              <a:rPr sz="1100" b="1" i="0">
                <a:solidFill>
                  <a:srgbClr val="C15F3C"/>
                </a:solidFill>
                <a:latin typeface="Helvetica Neue"/>
              </a:rPr>
              <a:t>1 tick = 1 day   /   10-year horizon   /   stop on collapse</a:t>
            </a:r>
          </a:p>
        </p:txBody>
      </p:sp>
      <p:pic>
        <p:nvPicPr>
          <p:cNvPr id="6" name="Picture 5" descr="fig_simulation_screenshot.png"/>
          <p:cNvPicPr>
            <a:picLocks noChangeAspect="1"/>
          </p:cNvPicPr>
          <p:nvPr/>
        </p:nvPicPr>
        <p:blipFill>
          <a:blip r:embed="rId2"/>
          <a:stretch>
            <a:fillRect/>
          </a:stretch>
        </p:blipFill>
        <p:spPr>
          <a:xfrm>
            <a:off x="6433333" y="2250759"/>
            <a:ext cx="6200000" cy="3798481"/>
          </a:xfrm>
          <a:prstGeom prst="rect">
            <a:avLst/>
          </a:prstGeom>
        </p:spPr>
      </p:pic>
      <p:sp>
        <p:nvSpPr>
          <p:cNvPr id="7" name="TextBox 6"/>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8" name="TextBox 7"/>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Parameters and Scenarios</a:t>
            </a:r>
          </a:p>
        </p:txBody>
      </p:sp>
      <p:sp>
        <p:nvSpPr>
          <p:cNvPr id="4" name="TextBox 3"/>
          <p:cNvSpPr txBox="1"/>
          <p:nvPr/>
        </p:nvSpPr>
        <p:spPr>
          <a:xfrm>
            <a:off x="700000" y="1900000"/>
            <a:ext cx="550000" cy="550000"/>
          </a:xfrm>
          <a:prstGeom prst="rect">
            <a:avLst/>
          </a:prstGeom>
          <a:noFill/>
        </p:spPr>
        <p:txBody>
          <a:bodyPr wrap="square" lIns="0" rIns="0" tIns="0" bIns="0" anchor="t">
            <a:spAutoFit/>
          </a:bodyPr>
          <a:lstStyle/>
          <a:p>
            <a:pPr algn="l"/>
            <a:r>
              <a:rPr sz="2800" b="1" i="0">
                <a:solidFill>
                  <a:srgbClr val="C15F3C"/>
                </a:solidFill>
                <a:latin typeface="Georgia"/>
              </a:rPr>
              <a:t>A</a:t>
            </a:r>
          </a:p>
        </p:txBody>
      </p:sp>
      <p:sp>
        <p:nvSpPr>
          <p:cNvPr id="5" name="TextBox 4"/>
          <p:cNvSpPr txBox="1"/>
          <p:nvPr/>
        </p:nvSpPr>
        <p:spPr>
          <a:xfrm>
            <a:off x="1500000" y="1960000"/>
            <a:ext cx="3000000" cy="500000"/>
          </a:xfrm>
          <a:prstGeom prst="rect">
            <a:avLst/>
          </a:prstGeom>
          <a:noFill/>
        </p:spPr>
        <p:txBody>
          <a:bodyPr wrap="square" lIns="0" rIns="0" tIns="0" bIns="0" anchor="t">
            <a:spAutoFit/>
          </a:bodyPr>
          <a:lstStyle/>
          <a:p>
            <a:pPr algn="l"/>
            <a:r>
              <a:rPr sz="2000" b="1" i="0">
                <a:solidFill>
                  <a:srgbClr val="1F1E1D"/>
                </a:solidFill>
                <a:latin typeface="Georgia"/>
              </a:rPr>
              <a:t>Unregulated</a:t>
            </a:r>
          </a:p>
        </p:txBody>
      </p:sp>
      <p:sp>
        <p:nvSpPr>
          <p:cNvPr id="6" name="TextBox 5"/>
          <p:cNvSpPr txBox="1"/>
          <p:nvPr/>
        </p:nvSpPr>
        <p:spPr>
          <a:xfrm>
            <a:off x="4700000" y="1990000"/>
            <a:ext cx="8000000" cy="500000"/>
          </a:xfrm>
          <a:prstGeom prst="rect">
            <a:avLst/>
          </a:prstGeom>
          <a:noFill/>
        </p:spPr>
        <p:txBody>
          <a:bodyPr wrap="square" lIns="0" rIns="0" tIns="0" bIns="0" anchor="t">
            <a:spAutoFit/>
          </a:bodyPr>
          <a:lstStyle/>
          <a:p>
            <a:pPr algn="l"/>
            <a:r>
              <a:rPr sz="1500" b="0" i="0">
                <a:solidFill>
                  <a:srgbClr val="605E5B"/>
                </a:solidFill>
                <a:latin typeface="Helvetica Neue"/>
              </a:rPr>
              <a:t>No cap, no oversight.</a:t>
            </a:r>
          </a:p>
        </p:txBody>
      </p:sp>
      <p:sp>
        <p:nvSpPr>
          <p:cNvPr id="7" name="TextBox 6"/>
          <p:cNvSpPr txBox="1"/>
          <p:nvPr/>
        </p:nvSpPr>
        <p:spPr>
          <a:xfrm>
            <a:off x="700000" y="2620000"/>
            <a:ext cx="550000" cy="550000"/>
          </a:xfrm>
          <a:prstGeom prst="rect">
            <a:avLst/>
          </a:prstGeom>
          <a:noFill/>
        </p:spPr>
        <p:txBody>
          <a:bodyPr wrap="square" lIns="0" rIns="0" tIns="0" bIns="0" anchor="t">
            <a:spAutoFit/>
          </a:bodyPr>
          <a:lstStyle/>
          <a:p>
            <a:pPr algn="l"/>
            <a:r>
              <a:rPr sz="2800" b="1" i="0">
                <a:solidFill>
                  <a:srgbClr val="C15F3C"/>
                </a:solidFill>
                <a:latin typeface="Georgia"/>
              </a:rPr>
              <a:t>B</a:t>
            </a:r>
          </a:p>
        </p:txBody>
      </p:sp>
      <p:sp>
        <p:nvSpPr>
          <p:cNvPr id="8" name="TextBox 7"/>
          <p:cNvSpPr txBox="1"/>
          <p:nvPr/>
        </p:nvSpPr>
        <p:spPr>
          <a:xfrm>
            <a:off x="1500000" y="2680000"/>
            <a:ext cx="3000000" cy="500000"/>
          </a:xfrm>
          <a:prstGeom prst="rect">
            <a:avLst/>
          </a:prstGeom>
          <a:noFill/>
        </p:spPr>
        <p:txBody>
          <a:bodyPr wrap="square" lIns="0" rIns="0" tIns="0" bIns="0" anchor="t">
            <a:spAutoFit/>
          </a:bodyPr>
          <a:lstStyle/>
          <a:p>
            <a:pPr algn="l"/>
            <a:r>
              <a:rPr sz="2000" b="1" i="0">
                <a:solidFill>
                  <a:srgbClr val="1F1E1D"/>
                </a:solidFill>
                <a:latin typeface="Georgia"/>
              </a:rPr>
              <a:t>Reactive cap</a:t>
            </a:r>
          </a:p>
        </p:txBody>
      </p:sp>
      <p:sp>
        <p:nvSpPr>
          <p:cNvPr id="9" name="TextBox 8"/>
          <p:cNvSpPr txBox="1"/>
          <p:nvPr/>
        </p:nvSpPr>
        <p:spPr>
          <a:xfrm>
            <a:off x="4700000" y="2710000"/>
            <a:ext cx="8000000" cy="500000"/>
          </a:xfrm>
          <a:prstGeom prst="rect">
            <a:avLst/>
          </a:prstGeom>
          <a:noFill/>
        </p:spPr>
        <p:txBody>
          <a:bodyPr wrap="square" lIns="0" rIns="0" tIns="0" bIns="0" anchor="t">
            <a:spAutoFit/>
          </a:bodyPr>
          <a:lstStyle/>
          <a:p>
            <a:pPr algn="l"/>
            <a:r>
              <a:rPr sz="1500" b="0" i="0">
                <a:solidFill>
                  <a:srgbClr val="605E5B"/>
                </a:solidFill>
                <a:latin typeface="Helvetica Neue"/>
              </a:rPr>
              <a:t>Cap triggers at 30% basin storage.</a:t>
            </a:r>
          </a:p>
        </p:txBody>
      </p:sp>
      <p:sp>
        <p:nvSpPr>
          <p:cNvPr id="10" name="TextBox 9"/>
          <p:cNvSpPr txBox="1"/>
          <p:nvPr/>
        </p:nvSpPr>
        <p:spPr>
          <a:xfrm>
            <a:off x="700000" y="3340000"/>
            <a:ext cx="550000" cy="550000"/>
          </a:xfrm>
          <a:prstGeom prst="rect">
            <a:avLst/>
          </a:prstGeom>
          <a:noFill/>
        </p:spPr>
        <p:txBody>
          <a:bodyPr wrap="square" lIns="0" rIns="0" tIns="0" bIns="0" anchor="t">
            <a:spAutoFit/>
          </a:bodyPr>
          <a:lstStyle/>
          <a:p>
            <a:pPr algn="l"/>
            <a:r>
              <a:rPr sz="2800" b="1" i="0">
                <a:solidFill>
                  <a:srgbClr val="C15F3C"/>
                </a:solidFill>
                <a:latin typeface="Georgia"/>
              </a:rPr>
              <a:t>C</a:t>
            </a:r>
          </a:p>
        </p:txBody>
      </p:sp>
      <p:sp>
        <p:nvSpPr>
          <p:cNvPr id="11" name="TextBox 10"/>
          <p:cNvSpPr txBox="1"/>
          <p:nvPr/>
        </p:nvSpPr>
        <p:spPr>
          <a:xfrm>
            <a:off x="1500000" y="3400000"/>
            <a:ext cx="3000000" cy="500000"/>
          </a:xfrm>
          <a:prstGeom prst="rect">
            <a:avLst/>
          </a:prstGeom>
          <a:noFill/>
        </p:spPr>
        <p:txBody>
          <a:bodyPr wrap="square" lIns="0" rIns="0" tIns="0" bIns="0" anchor="t">
            <a:spAutoFit/>
          </a:bodyPr>
          <a:lstStyle/>
          <a:p>
            <a:pPr algn="l"/>
            <a:r>
              <a:rPr sz="2000" b="1" i="0">
                <a:solidFill>
                  <a:srgbClr val="1F1E1D"/>
                </a:solidFill>
                <a:latin typeface="Georgia"/>
              </a:rPr>
              <a:t>Proactive cap</a:t>
            </a:r>
          </a:p>
        </p:txBody>
      </p:sp>
      <p:sp>
        <p:nvSpPr>
          <p:cNvPr id="12" name="TextBox 11"/>
          <p:cNvSpPr txBox="1"/>
          <p:nvPr/>
        </p:nvSpPr>
        <p:spPr>
          <a:xfrm>
            <a:off x="4700000" y="3430000"/>
            <a:ext cx="8000000" cy="500000"/>
          </a:xfrm>
          <a:prstGeom prst="rect">
            <a:avLst/>
          </a:prstGeom>
          <a:noFill/>
        </p:spPr>
        <p:txBody>
          <a:bodyPr wrap="square" lIns="0" rIns="0" tIns="0" bIns="0" anchor="t">
            <a:spAutoFit/>
          </a:bodyPr>
          <a:lstStyle/>
          <a:p>
            <a:pPr algn="l"/>
            <a:r>
              <a:rPr sz="1500" b="0" i="0">
                <a:solidFill>
                  <a:srgbClr val="605E5B"/>
                </a:solidFill>
                <a:latin typeface="Helvetica Neue"/>
              </a:rPr>
              <a:t>15 ML/day from t=0.</a:t>
            </a:r>
          </a:p>
        </p:txBody>
      </p:sp>
      <p:sp>
        <p:nvSpPr>
          <p:cNvPr id="13" name="TextBox 12"/>
          <p:cNvSpPr txBox="1"/>
          <p:nvPr/>
        </p:nvSpPr>
        <p:spPr>
          <a:xfrm>
            <a:off x="700000" y="4060000"/>
            <a:ext cx="550000" cy="550000"/>
          </a:xfrm>
          <a:prstGeom prst="rect">
            <a:avLst/>
          </a:prstGeom>
          <a:noFill/>
        </p:spPr>
        <p:txBody>
          <a:bodyPr wrap="square" lIns="0" rIns="0" tIns="0" bIns="0" anchor="t">
            <a:spAutoFit/>
          </a:bodyPr>
          <a:lstStyle/>
          <a:p>
            <a:pPr algn="l"/>
            <a:r>
              <a:rPr sz="2800" b="1" i="0">
                <a:solidFill>
                  <a:srgbClr val="C15F3C"/>
                </a:solidFill>
                <a:latin typeface="Georgia"/>
              </a:rPr>
              <a:t>D</a:t>
            </a:r>
          </a:p>
        </p:txBody>
      </p:sp>
      <p:sp>
        <p:nvSpPr>
          <p:cNvPr id="14" name="TextBox 13"/>
          <p:cNvSpPr txBox="1"/>
          <p:nvPr/>
        </p:nvSpPr>
        <p:spPr>
          <a:xfrm>
            <a:off x="1500000" y="4120000"/>
            <a:ext cx="3000000" cy="500000"/>
          </a:xfrm>
          <a:prstGeom prst="rect">
            <a:avLst/>
          </a:prstGeom>
          <a:noFill/>
        </p:spPr>
        <p:txBody>
          <a:bodyPr wrap="square" lIns="0" rIns="0" tIns="0" bIns="0" anchor="t">
            <a:spAutoFit/>
          </a:bodyPr>
          <a:lstStyle/>
          <a:p>
            <a:pPr algn="l"/>
            <a:r>
              <a:rPr sz="2000" b="1" i="0">
                <a:solidFill>
                  <a:srgbClr val="1F1E1D"/>
                </a:solidFill>
                <a:latin typeface="Georgia"/>
              </a:rPr>
              <a:t>Staggered entry</a:t>
            </a:r>
          </a:p>
        </p:txBody>
      </p:sp>
      <p:sp>
        <p:nvSpPr>
          <p:cNvPr id="15" name="TextBox 14"/>
          <p:cNvSpPr txBox="1"/>
          <p:nvPr/>
        </p:nvSpPr>
        <p:spPr>
          <a:xfrm>
            <a:off x="4700000" y="4150000"/>
            <a:ext cx="8000000" cy="500000"/>
          </a:xfrm>
          <a:prstGeom prst="rect">
            <a:avLst/>
          </a:prstGeom>
          <a:noFill/>
        </p:spPr>
        <p:txBody>
          <a:bodyPr wrap="square" lIns="0" rIns="0" tIns="0" bIns="0" anchor="t">
            <a:spAutoFit/>
          </a:bodyPr>
          <a:lstStyle/>
          <a:p>
            <a:pPr algn="l"/>
            <a:r>
              <a:rPr sz="1500" b="0" i="0">
                <a:solidFill>
                  <a:srgbClr val="605E5B"/>
                </a:solidFill>
                <a:latin typeface="Helvetica Neue"/>
              </a:rPr>
              <a:t>DCs come online in years 0, 2, 4, 6.</a:t>
            </a:r>
          </a:p>
        </p:txBody>
      </p:sp>
      <p:sp>
        <p:nvSpPr>
          <p:cNvPr id="16" name="TextBox 15"/>
          <p:cNvSpPr txBox="1"/>
          <p:nvPr/>
        </p:nvSpPr>
        <p:spPr>
          <a:xfrm>
            <a:off x="700000" y="5900000"/>
            <a:ext cx="11933333" cy="900000"/>
          </a:xfrm>
          <a:prstGeom prst="rect">
            <a:avLst/>
          </a:prstGeom>
          <a:noFill/>
        </p:spPr>
        <p:txBody>
          <a:bodyPr wrap="square" lIns="0" rIns="0" tIns="0" bIns="0" anchor="t">
            <a:spAutoFit/>
          </a:bodyPr>
          <a:lstStyle/>
          <a:p>
            <a:pPr algn="l"/>
            <a:r>
              <a:rPr sz="1400" b="0" i="1">
                <a:solidFill>
                  <a:srgbClr val="C15F3C"/>
                </a:solidFill>
                <a:latin typeface="Georgia"/>
              </a:rPr>
              <a:t>Matched-seed design: every scenario sees the same 50 random seeds, so differences are policy, not luck.</a:t>
            </a:r>
          </a:p>
        </p:txBody>
      </p:sp>
      <p:sp>
        <p:nvSpPr>
          <p:cNvPr id="17" name="TextBox 16"/>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18" name="TextBox 17"/>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How To Read The Simulation</a:t>
            </a:r>
          </a:p>
        </p:txBody>
      </p:sp>
      <p:pic>
        <p:nvPicPr>
          <p:cNvPr id="4" name="Picture 3" descr="fig_basin_timeseries.png"/>
          <p:cNvPicPr>
            <a:picLocks noChangeAspect="1"/>
          </p:cNvPicPr>
          <p:nvPr/>
        </p:nvPicPr>
        <p:blipFill>
          <a:blip r:embed="rId2"/>
          <a:stretch>
            <a:fillRect/>
          </a:stretch>
        </p:blipFill>
        <p:spPr>
          <a:xfrm>
            <a:off x="700000" y="1750000"/>
            <a:ext cx="7573588" cy="4600000"/>
          </a:xfrm>
          <a:prstGeom prst="rect">
            <a:avLst/>
          </a:prstGeom>
        </p:spPr>
      </p:pic>
      <p:sp>
        <p:nvSpPr>
          <p:cNvPr id="5" name="TextBox 4"/>
          <p:cNvSpPr txBox="1"/>
          <p:nvPr/>
        </p:nvSpPr>
        <p:spPr>
          <a:xfrm>
            <a:off x="9300000" y="1800000"/>
            <a:ext cx="3500000" cy="400000"/>
          </a:xfrm>
          <a:prstGeom prst="rect">
            <a:avLst/>
          </a:prstGeom>
          <a:noFill/>
        </p:spPr>
        <p:txBody>
          <a:bodyPr wrap="square" lIns="0" rIns="0" tIns="0" bIns="0" anchor="t">
            <a:spAutoFit/>
          </a:bodyPr>
          <a:lstStyle/>
          <a:p>
            <a:pPr algn="l"/>
            <a:r>
              <a:rPr sz="1100" b="1" i="0">
                <a:solidFill>
                  <a:srgbClr val="C15F3C"/>
                </a:solidFill>
                <a:latin typeface="Helvetica Neue"/>
              </a:rPr>
              <a:t>WHAT TO SEE</a:t>
            </a:r>
          </a:p>
        </p:txBody>
      </p:sp>
      <p:sp>
        <p:nvSpPr>
          <p:cNvPr id="6" name="TextBox 5"/>
          <p:cNvSpPr txBox="1"/>
          <p:nvPr/>
        </p:nvSpPr>
        <p:spPr>
          <a:xfrm>
            <a:off x="9300000" y="2250000"/>
            <a:ext cx="3500000" cy="400000"/>
          </a:xfrm>
          <a:prstGeom prst="rect">
            <a:avLst/>
          </a:prstGeom>
          <a:noFill/>
        </p:spPr>
        <p:txBody>
          <a:bodyPr wrap="square" lIns="0" rIns="0" tIns="0" bIns="0" anchor="t">
            <a:spAutoFit/>
          </a:bodyPr>
          <a:lstStyle/>
          <a:p>
            <a:pPr algn="l"/>
            <a:r>
              <a:rPr sz="1700" b="1" i="0">
                <a:solidFill>
                  <a:srgbClr val="1F1E1D"/>
                </a:solidFill>
                <a:latin typeface="Georgia"/>
              </a:rPr>
              <a:t>A and B</a:t>
            </a:r>
          </a:p>
        </p:txBody>
      </p:sp>
      <p:sp>
        <p:nvSpPr>
          <p:cNvPr id="7" name="TextBox 6"/>
          <p:cNvSpPr txBox="1"/>
          <p:nvPr/>
        </p:nvSpPr>
        <p:spPr>
          <a:xfrm>
            <a:off x="9300000" y="2600000"/>
            <a:ext cx="3500000" cy="900000"/>
          </a:xfrm>
          <a:prstGeom prst="rect">
            <a:avLst/>
          </a:prstGeom>
          <a:noFill/>
        </p:spPr>
        <p:txBody>
          <a:bodyPr wrap="square" lIns="0" rIns="0" tIns="0" bIns="0" anchor="t">
            <a:spAutoFit/>
          </a:bodyPr>
          <a:lstStyle/>
          <a:p>
            <a:pPr algn="l"/>
            <a:r>
              <a:rPr sz="1200" b="0" i="0">
                <a:solidFill>
                  <a:srgbClr val="605E5B"/>
                </a:solidFill>
                <a:latin typeface="Helvetica Neue"/>
              </a:rPr>
              <a:t>Identical trajectory. Reactive cap fires after the cliff.</a:t>
            </a:r>
          </a:p>
        </p:txBody>
      </p:sp>
      <p:sp>
        <p:nvSpPr>
          <p:cNvPr id="8" name="TextBox 7"/>
          <p:cNvSpPr txBox="1"/>
          <p:nvPr/>
        </p:nvSpPr>
        <p:spPr>
          <a:xfrm>
            <a:off x="9300000" y="3550000"/>
            <a:ext cx="3500000" cy="400000"/>
          </a:xfrm>
          <a:prstGeom prst="rect">
            <a:avLst/>
          </a:prstGeom>
          <a:noFill/>
        </p:spPr>
        <p:txBody>
          <a:bodyPr wrap="square" lIns="0" rIns="0" tIns="0" bIns="0" anchor="t">
            <a:spAutoFit/>
          </a:bodyPr>
          <a:lstStyle/>
          <a:p>
            <a:pPr algn="l"/>
            <a:r>
              <a:rPr sz="1700" b="1" i="0">
                <a:solidFill>
                  <a:srgbClr val="1F1E1D"/>
                </a:solidFill>
                <a:latin typeface="Georgia"/>
              </a:rPr>
              <a:t>C</a:t>
            </a:r>
          </a:p>
        </p:txBody>
      </p:sp>
      <p:sp>
        <p:nvSpPr>
          <p:cNvPr id="9" name="TextBox 8"/>
          <p:cNvSpPr txBox="1"/>
          <p:nvPr/>
        </p:nvSpPr>
        <p:spPr>
          <a:xfrm>
            <a:off x="9300000" y="3900000"/>
            <a:ext cx="3500000" cy="900000"/>
          </a:xfrm>
          <a:prstGeom prst="rect">
            <a:avLst/>
          </a:prstGeom>
          <a:noFill/>
        </p:spPr>
        <p:txBody>
          <a:bodyPr wrap="square" lIns="0" rIns="0" tIns="0" bIns="0" anchor="t">
            <a:spAutoFit/>
          </a:bodyPr>
          <a:lstStyle/>
          <a:p>
            <a:pPr algn="l"/>
            <a:r>
              <a:rPr sz="1200" b="0" i="0">
                <a:solidFill>
                  <a:srgbClr val="605E5B"/>
                </a:solidFill>
                <a:latin typeface="Helvetica Neue"/>
              </a:rPr>
              <a:t>Holds above 90% for the entire decade.</a:t>
            </a:r>
          </a:p>
        </p:txBody>
      </p:sp>
      <p:sp>
        <p:nvSpPr>
          <p:cNvPr id="10" name="TextBox 9"/>
          <p:cNvSpPr txBox="1"/>
          <p:nvPr/>
        </p:nvSpPr>
        <p:spPr>
          <a:xfrm>
            <a:off x="9300000" y="4850000"/>
            <a:ext cx="3500000" cy="400000"/>
          </a:xfrm>
          <a:prstGeom prst="rect">
            <a:avLst/>
          </a:prstGeom>
          <a:noFill/>
        </p:spPr>
        <p:txBody>
          <a:bodyPr wrap="square" lIns="0" rIns="0" tIns="0" bIns="0" anchor="t">
            <a:spAutoFit/>
          </a:bodyPr>
          <a:lstStyle/>
          <a:p>
            <a:pPr algn="l"/>
            <a:r>
              <a:rPr sz="1700" b="1" i="0">
                <a:solidFill>
                  <a:srgbClr val="1F1E1D"/>
                </a:solidFill>
                <a:latin typeface="Georgia"/>
              </a:rPr>
              <a:t>D</a:t>
            </a:r>
          </a:p>
        </p:txBody>
      </p:sp>
      <p:sp>
        <p:nvSpPr>
          <p:cNvPr id="11" name="TextBox 10"/>
          <p:cNvSpPr txBox="1"/>
          <p:nvPr/>
        </p:nvSpPr>
        <p:spPr>
          <a:xfrm>
            <a:off x="9300000" y="5200000"/>
            <a:ext cx="3500000" cy="900000"/>
          </a:xfrm>
          <a:prstGeom prst="rect">
            <a:avLst/>
          </a:prstGeom>
          <a:noFill/>
        </p:spPr>
        <p:txBody>
          <a:bodyPr wrap="square" lIns="0" rIns="0" tIns="0" bIns="0" anchor="t">
            <a:spAutoFit/>
          </a:bodyPr>
          <a:lstStyle/>
          <a:p>
            <a:pPr algn="l"/>
            <a:r>
              <a:rPr sz="1200" b="0" i="0">
                <a:solidFill>
                  <a:srgbClr val="605E5B"/>
                </a:solidFill>
                <a:latin typeface="Helvetica Neue"/>
              </a:rPr>
              <a:t>Delays the collapse but the endpoint is unchanged.</a:t>
            </a:r>
          </a:p>
        </p:txBody>
      </p:sp>
      <p:sp>
        <p:nvSpPr>
          <p:cNvPr id="12" name="TextBox 11"/>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13" name="TextBox 12"/>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Result H1: Collapse Timing</a:t>
            </a:r>
          </a:p>
        </p:txBody>
      </p:sp>
      <p:pic>
        <p:nvPicPr>
          <p:cNvPr id="4" name="Picture 3" descr="fig_time_to_stress.png"/>
          <p:cNvPicPr>
            <a:picLocks noChangeAspect="1"/>
          </p:cNvPicPr>
          <p:nvPr/>
        </p:nvPicPr>
        <p:blipFill>
          <a:blip r:embed="rId2"/>
          <a:stretch>
            <a:fillRect/>
          </a:stretch>
        </p:blipFill>
        <p:spPr>
          <a:xfrm>
            <a:off x="700000" y="1750000"/>
            <a:ext cx="6942930" cy="4900000"/>
          </a:xfrm>
          <a:prstGeom prst="rect">
            <a:avLst/>
          </a:prstGeom>
        </p:spPr>
      </p:pic>
      <p:sp>
        <p:nvSpPr>
          <p:cNvPr id="5" name="TextBox 4"/>
          <p:cNvSpPr txBox="1"/>
          <p:nvPr/>
        </p:nvSpPr>
        <p:spPr>
          <a:xfrm>
            <a:off x="8800000" y="1850000"/>
            <a:ext cx="4100000" cy="400000"/>
          </a:xfrm>
          <a:prstGeom prst="rect">
            <a:avLst/>
          </a:prstGeom>
          <a:noFill/>
        </p:spPr>
        <p:txBody>
          <a:bodyPr wrap="square" lIns="0" rIns="0" tIns="0" bIns="0" anchor="t">
            <a:spAutoFit/>
          </a:bodyPr>
          <a:lstStyle/>
          <a:p>
            <a:pPr algn="l"/>
            <a:r>
              <a:rPr sz="1100" b="1" i="0">
                <a:solidFill>
                  <a:srgbClr val="C15F3C"/>
                </a:solidFill>
                <a:latin typeface="Helvetica Neue"/>
              </a:rPr>
              <a:t>RESULT</a:t>
            </a:r>
          </a:p>
        </p:txBody>
      </p:sp>
      <p:sp>
        <p:nvSpPr>
          <p:cNvPr id="6" name="TextBox 5"/>
          <p:cNvSpPr txBox="1"/>
          <p:nvPr/>
        </p:nvSpPr>
        <p:spPr>
          <a:xfrm>
            <a:off x="8800000" y="2250000"/>
            <a:ext cx="4100000" cy="1300000"/>
          </a:xfrm>
          <a:prstGeom prst="rect">
            <a:avLst/>
          </a:prstGeom>
          <a:noFill/>
        </p:spPr>
        <p:txBody>
          <a:bodyPr wrap="square" lIns="0" rIns="0" tIns="0" bIns="0" anchor="t">
            <a:spAutoFit/>
          </a:bodyPr>
          <a:lstStyle/>
          <a:p>
            <a:pPr algn="l"/>
            <a:r>
              <a:rPr sz="7200" b="1" i="0">
                <a:solidFill>
                  <a:srgbClr val="C15F3C"/>
                </a:solidFill>
                <a:latin typeface="Georgia"/>
              </a:rPr>
              <a:t>100%</a:t>
            </a:r>
          </a:p>
        </p:txBody>
      </p:sp>
      <p:sp>
        <p:nvSpPr>
          <p:cNvPr id="7" name="TextBox 6"/>
          <p:cNvSpPr txBox="1"/>
          <p:nvPr/>
        </p:nvSpPr>
        <p:spPr>
          <a:xfrm>
            <a:off x="8800000" y="3550000"/>
            <a:ext cx="4100000" cy="700000"/>
          </a:xfrm>
          <a:prstGeom prst="rect">
            <a:avLst/>
          </a:prstGeom>
          <a:noFill/>
        </p:spPr>
        <p:txBody>
          <a:bodyPr wrap="square" lIns="0" rIns="0" tIns="0" bIns="0" anchor="t">
            <a:spAutoFit/>
          </a:bodyPr>
          <a:lstStyle/>
          <a:p>
            <a:pPr algn="l"/>
            <a:r>
              <a:rPr sz="1600" b="0" i="1">
                <a:solidFill>
                  <a:srgbClr val="1F1E1D"/>
                </a:solidFill>
                <a:latin typeface="Georgia"/>
              </a:rPr>
              <a:t>of unregulated runs collapsed.</a:t>
            </a:r>
          </a:p>
        </p:txBody>
      </p:sp>
      <p:sp>
        <p:nvSpPr>
          <p:cNvPr id="8" name="TextBox 7"/>
          <p:cNvSpPr txBox="1"/>
          <p:nvPr/>
        </p:nvSpPr>
        <p:spPr>
          <a:xfrm>
            <a:off x="8800000" y="4500000"/>
            <a:ext cx="4100000" cy="450000"/>
          </a:xfrm>
          <a:prstGeom prst="rect">
            <a:avLst/>
          </a:prstGeom>
          <a:noFill/>
        </p:spPr>
        <p:txBody>
          <a:bodyPr wrap="square" lIns="0" rIns="0" tIns="0" bIns="0" anchor="t">
            <a:spAutoFit/>
          </a:bodyPr>
          <a:lstStyle/>
          <a:p>
            <a:pPr algn="l"/>
            <a:r>
              <a:rPr sz="1800" b="1" i="0">
                <a:solidFill>
                  <a:srgbClr val="1F1E1D"/>
                </a:solidFill>
                <a:latin typeface="Helvetica Neue"/>
              </a:rPr>
              <a:t>Mean: 6.07 ± 0.84 years</a:t>
            </a:r>
          </a:p>
        </p:txBody>
      </p:sp>
      <p:sp>
        <p:nvSpPr>
          <p:cNvPr id="9" name="TextBox 8"/>
          <p:cNvSpPr txBox="1"/>
          <p:nvPr/>
        </p:nvSpPr>
        <p:spPr>
          <a:xfrm>
            <a:off x="8800000" y="5000000"/>
            <a:ext cx="4100000" cy="400000"/>
          </a:xfrm>
          <a:prstGeom prst="rect">
            <a:avLst/>
          </a:prstGeom>
          <a:noFill/>
        </p:spPr>
        <p:txBody>
          <a:bodyPr wrap="square" lIns="0" rIns="0" tIns="0" bIns="0" anchor="t">
            <a:spAutoFit/>
          </a:bodyPr>
          <a:lstStyle/>
          <a:p>
            <a:pPr algn="l"/>
            <a:r>
              <a:rPr sz="1400" b="0" i="0">
                <a:solidFill>
                  <a:srgbClr val="605E5B"/>
                </a:solidFill>
                <a:latin typeface="Helvetica Neue"/>
              </a:rPr>
              <a:t>p &lt; 10⁻²¹</a:t>
            </a:r>
          </a:p>
        </p:txBody>
      </p:sp>
      <p:sp>
        <p:nvSpPr>
          <p:cNvPr id="10" name="TextBox 9"/>
          <p:cNvSpPr txBox="1"/>
          <p:nvPr/>
        </p:nvSpPr>
        <p:spPr>
          <a:xfrm>
            <a:off x="8800000" y="5450000"/>
            <a:ext cx="4100000" cy="400000"/>
          </a:xfrm>
          <a:prstGeom prst="rect">
            <a:avLst/>
          </a:prstGeom>
          <a:noFill/>
        </p:spPr>
        <p:txBody>
          <a:bodyPr wrap="square" lIns="0" rIns="0" tIns="0" bIns="0" anchor="t">
            <a:spAutoFit/>
          </a:bodyPr>
          <a:lstStyle/>
          <a:p>
            <a:pPr algn="l"/>
            <a:r>
              <a:rPr sz="1100" b="0" i="0">
                <a:solidFill>
                  <a:srgbClr val="605E5B"/>
                </a:solidFill>
                <a:latin typeface="Helvetica Neue"/>
              </a:rPr>
              <a:t>n = 50 replicate runs</a:t>
            </a:r>
          </a:p>
        </p:txBody>
      </p:sp>
      <p:sp>
        <p:nvSpPr>
          <p:cNvPr id="11" name="TextBox 10"/>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12" name="TextBox 11"/>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Result H2: Tipping Point</a:t>
            </a:r>
          </a:p>
        </p:txBody>
      </p:sp>
      <p:pic>
        <p:nvPicPr>
          <p:cNvPr id="4" name="Picture 3" descr="fig_tipping_point.png"/>
          <p:cNvPicPr>
            <a:picLocks noChangeAspect="1"/>
          </p:cNvPicPr>
          <p:nvPr/>
        </p:nvPicPr>
        <p:blipFill>
          <a:blip r:embed="rId2"/>
          <a:stretch>
            <a:fillRect/>
          </a:stretch>
        </p:blipFill>
        <p:spPr>
          <a:xfrm>
            <a:off x="700000" y="1750000"/>
            <a:ext cx="7600000" cy="4252920"/>
          </a:xfrm>
          <a:prstGeom prst="rect">
            <a:avLst/>
          </a:prstGeom>
        </p:spPr>
      </p:pic>
      <p:sp>
        <p:nvSpPr>
          <p:cNvPr id="5" name="TextBox 4"/>
          <p:cNvSpPr txBox="1"/>
          <p:nvPr/>
        </p:nvSpPr>
        <p:spPr>
          <a:xfrm>
            <a:off x="8800000" y="1850000"/>
            <a:ext cx="4100000" cy="400000"/>
          </a:xfrm>
          <a:prstGeom prst="rect">
            <a:avLst/>
          </a:prstGeom>
          <a:noFill/>
        </p:spPr>
        <p:txBody>
          <a:bodyPr wrap="square" lIns="0" rIns="0" tIns="0" bIns="0" anchor="t">
            <a:spAutoFit/>
          </a:bodyPr>
          <a:lstStyle/>
          <a:p>
            <a:pPr algn="l"/>
            <a:r>
              <a:rPr sz="1100" b="1" i="0">
                <a:solidFill>
                  <a:srgbClr val="C15F3C"/>
                </a:solidFill>
                <a:latin typeface="Helvetica Neue"/>
              </a:rPr>
              <a:t>ACCELERATION</a:t>
            </a:r>
          </a:p>
        </p:txBody>
      </p:sp>
      <p:sp>
        <p:nvSpPr>
          <p:cNvPr id="6" name="TextBox 5"/>
          <p:cNvSpPr txBox="1"/>
          <p:nvPr/>
        </p:nvSpPr>
        <p:spPr>
          <a:xfrm>
            <a:off x="8800000" y="2250000"/>
            <a:ext cx="4100000" cy="1300000"/>
          </a:xfrm>
          <a:prstGeom prst="rect">
            <a:avLst/>
          </a:prstGeom>
          <a:noFill/>
        </p:spPr>
        <p:txBody>
          <a:bodyPr wrap="square" lIns="0" rIns="0" tIns="0" bIns="0" anchor="t">
            <a:spAutoFit/>
          </a:bodyPr>
          <a:lstStyle/>
          <a:p>
            <a:pPr algn="l"/>
            <a:r>
              <a:rPr sz="7200" b="1" i="0">
                <a:solidFill>
                  <a:srgbClr val="C15F3C"/>
                </a:solidFill>
                <a:latin typeface="Georgia"/>
              </a:rPr>
              <a:t>9.25×</a:t>
            </a:r>
          </a:p>
        </p:txBody>
      </p:sp>
      <p:sp>
        <p:nvSpPr>
          <p:cNvPr id="7" name="TextBox 6"/>
          <p:cNvSpPr txBox="1"/>
          <p:nvPr/>
        </p:nvSpPr>
        <p:spPr>
          <a:xfrm>
            <a:off x="8800000" y="3550000"/>
            <a:ext cx="4100000" cy="700000"/>
          </a:xfrm>
          <a:prstGeom prst="rect">
            <a:avLst/>
          </a:prstGeom>
          <a:noFill/>
        </p:spPr>
        <p:txBody>
          <a:bodyPr wrap="square" lIns="0" rIns="0" tIns="0" bIns="0" anchor="t">
            <a:spAutoFit/>
          </a:bodyPr>
          <a:lstStyle/>
          <a:p>
            <a:pPr algn="l"/>
            <a:r>
              <a:rPr sz="1400" b="0" i="1">
                <a:solidFill>
                  <a:srgbClr val="1F1E1D"/>
                </a:solidFill>
                <a:latin typeface="Georgia"/>
              </a:rPr>
              <a:t>decline rate after the 40% threshold.</a:t>
            </a:r>
          </a:p>
        </p:txBody>
      </p:sp>
      <p:sp>
        <p:nvSpPr>
          <p:cNvPr id="8" name="TextBox 7"/>
          <p:cNvSpPr txBox="1"/>
          <p:nvPr/>
        </p:nvSpPr>
        <p:spPr>
          <a:xfrm>
            <a:off x="8800000" y="4400000"/>
            <a:ext cx="4100000" cy="400000"/>
          </a:xfrm>
          <a:prstGeom prst="rect">
            <a:avLst/>
          </a:prstGeom>
          <a:noFill/>
        </p:spPr>
        <p:txBody>
          <a:bodyPr wrap="square" lIns="0" rIns="0" tIns="0" bIns="0" anchor="t">
            <a:spAutoFit/>
          </a:bodyPr>
          <a:lstStyle/>
          <a:p>
            <a:pPr algn="l"/>
            <a:r>
              <a:rPr sz="1500" b="0" i="0">
                <a:solidFill>
                  <a:srgbClr val="605E5B"/>
                </a:solidFill>
                <a:latin typeface="Helvetica Neue"/>
              </a:rPr>
              <a:t>Pre-tipping: 0.07 / yr</a:t>
            </a:r>
          </a:p>
        </p:txBody>
      </p:sp>
      <p:sp>
        <p:nvSpPr>
          <p:cNvPr id="9" name="TextBox 8"/>
          <p:cNvSpPr txBox="1"/>
          <p:nvPr/>
        </p:nvSpPr>
        <p:spPr>
          <a:xfrm>
            <a:off x="8800000" y="4850000"/>
            <a:ext cx="4100000" cy="400000"/>
          </a:xfrm>
          <a:prstGeom prst="rect">
            <a:avLst/>
          </a:prstGeom>
          <a:noFill/>
        </p:spPr>
        <p:txBody>
          <a:bodyPr wrap="square" lIns="0" rIns="0" tIns="0" bIns="0" anchor="t">
            <a:spAutoFit/>
          </a:bodyPr>
          <a:lstStyle/>
          <a:p>
            <a:pPr algn="l"/>
            <a:r>
              <a:rPr sz="1500" b="1" i="0">
                <a:solidFill>
                  <a:srgbClr val="1F1E1D"/>
                </a:solidFill>
                <a:latin typeface="Helvetica Neue"/>
              </a:rPr>
              <a:t>Post-tipping: 0.66 / yr</a:t>
            </a:r>
          </a:p>
        </p:txBody>
      </p:sp>
      <p:sp>
        <p:nvSpPr>
          <p:cNvPr id="10" name="TextBox 9"/>
          <p:cNvSpPr txBox="1"/>
          <p:nvPr/>
        </p:nvSpPr>
        <p:spPr>
          <a:xfrm>
            <a:off x="8800000" y="5450000"/>
            <a:ext cx="4100000" cy="400000"/>
          </a:xfrm>
          <a:prstGeom prst="rect">
            <a:avLst/>
          </a:prstGeom>
          <a:noFill/>
        </p:spPr>
        <p:txBody>
          <a:bodyPr wrap="square" lIns="0" rIns="0" tIns="0" bIns="0" anchor="t">
            <a:spAutoFit/>
          </a:bodyPr>
          <a:lstStyle/>
          <a:p>
            <a:pPr algn="l"/>
            <a:r>
              <a:rPr sz="1400" b="0" i="0">
                <a:solidFill>
                  <a:srgbClr val="605E5B"/>
                </a:solidFill>
                <a:latin typeface="Helvetica Neue"/>
              </a:rPr>
              <a:t>p &lt; 10⁻⁷⁴</a:t>
            </a:r>
          </a:p>
        </p:txBody>
      </p:sp>
      <p:sp>
        <p:nvSpPr>
          <p:cNvPr id="11" name="TextBox 10"/>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12" name="TextBox 11"/>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Result H3: Policy Effectiveness</a:t>
            </a:r>
          </a:p>
        </p:txBody>
      </p:sp>
      <p:pic>
        <p:nvPicPr>
          <p:cNvPr id="4" name="Picture 3" descr="fig_yield_loss.png"/>
          <p:cNvPicPr>
            <a:picLocks noChangeAspect="1"/>
          </p:cNvPicPr>
          <p:nvPr/>
        </p:nvPicPr>
        <p:blipFill>
          <a:blip r:embed="rId2"/>
          <a:stretch>
            <a:fillRect/>
          </a:stretch>
        </p:blipFill>
        <p:spPr>
          <a:xfrm>
            <a:off x="700000" y="1750000"/>
            <a:ext cx="6800000" cy="4590366"/>
          </a:xfrm>
          <a:prstGeom prst="rect">
            <a:avLst/>
          </a:prstGeom>
        </p:spPr>
      </p:pic>
      <p:sp>
        <p:nvSpPr>
          <p:cNvPr id="5" name="TextBox 4"/>
          <p:cNvSpPr txBox="1"/>
          <p:nvPr/>
        </p:nvSpPr>
        <p:spPr>
          <a:xfrm>
            <a:off x="8000000" y="1800000"/>
            <a:ext cx="5000000" cy="400000"/>
          </a:xfrm>
          <a:prstGeom prst="rect">
            <a:avLst/>
          </a:prstGeom>
          <a:noFill/>
        </p:spPr>
        <p:txBody>
          <a:bodyPr wrap="square" lIns="0" rIns="0" tIns="0" bIns="0" anchor="t">
            <a:spAutoFit/>
          </a:bodyPr>
          <a:lstStyle/>
          <a:p>
            <a:pPr algn="l"/>
            <a:r>
              <a:rPr sz="1100" b="1" i="0">
                <a:solidFill>
                  <a:srgbClr val="C15F3C"/>
                </a:solidFill>
                <a:latin typeface="Helvetica Neue"/>
              </a:rPr>
              <a:t>PROACTIVE CAP</a:t>
            </a:r>
          </a:p>
        </p:txBody>
      </p:sp>
      <p:sp>
        <p:nvSpPr>
          <p:cNvPr id="6" name="TextBox 5"/>
          <p:cNvSpPr txBox="1"/>
          <p:nvPr/>
        </p:nvSpPr>
        <p:spPr>
          <a:xfrm>
            <a:off x="8000000" y="2200000"/>
            <a:ext cx="5000000" cy="1100000"/>
          </a:xfrm>
          <a:prstGeom prst="rect">
            <a:avLst/>
          </a:prstGeom>
          <a:noFill/>
        </p:spPr>
        <p:txBody>
          <a:bodyPr wrap="square" lIns="0" rIns="0" tIns="0" bIns="0" anchor="t">
            <a:spAutoFit/>
          </a:bodyPr>
          <a:lstStyle/>
          <a:p>
            <a:pPr algn="l"/>
            <a:r>
              <a:rPr sz="6000" b="1" i="0">
                <a:solidFill>
                  <a:srgbClr val="C15F3C"/>
                </a:solidFill>
                <a:latin typeface="Georgia"/>
              </a:rPr>
              <a:t>+65%</a:t>
            </a:r>
          </a:p>
        </p:txBody>
      </p:sp>
      <p:sp>
        <p:nvSpPr>
          <p:cNvPr id="7" name="TextBox 6"/>
          <p:cNvSpPr txBox="1"/>
          <p:nvPr/>
        </p:nvSpPr>
        <p:spPr>
          <a:xfrm>
            <a:off x="8000000" y="3200000"/>
            <a:ext cx="5000000" cy="400000"/>
          </a:xfrm>
          <a:prstGeom prst="rect">
            <a:avLst/>
          </a:prstGeom>
          <a:noFill/>
        </p:spPr>
        <p:txBody>
          <a:bodyPr wrap="square" lIns="0" rIns="0" tIns="0" bIns="0" anchor="t">
            <a:spAutoFit/>
          </a:bodyPr>
          <a:lstStyle/>
          <a:p>
            <a:pPr algn="l"/>
            <a:r>
              <a:rPr sz="1300" b="0" i="0">
                <a:solidFill>
                  <a:srgbClr val="605E5B"/>
                </a:solidFill>
                <a:latin typeface="Helvetica Neue"/>
              </a:rPr>
              <a:t>delay in critical stress onset.</a:t>
            </a:r>
          </a:p>
        </p:txBody>
      </p:sp>
      <p:sp>
        <p:nvSpPr>
          <p:cNvPr id="8" name="TextBox 7"/>
          <p:cNvSpPr txBox="1"/>
          <p:nvPr/>
        </p:nvSpPr>
        <p:spPr>
          <a:xfrm>
            <a:off x="8000000" y="3900000"/>
            <a:ext cx="5000000" cy="400000"/>
          </a:xfrm>
          <a:prstGeom prst="rect">
            <a:avLst/>
          </a:prstGeom>
          <a:noFill/>
        </p:spPr>
        <p:txBody>
          <a:bodyPr wrap="square" lIns="0" rIns="0" tIns="0" bIns="0" anchor="t">
            <a:spAutoFit/>
          </a:bodyPr>
          <a:lstStyle/>
          <a:p>
            <a:pPr algn="l"/>
            <a:r>
              <a:rPr sz="1100" b="1" i="0">
                <a:solidFill>
                  <a:srgbClr val="605E5B"/>
                </a:solidFill>
                <a:latin typeface="Helvetica Neue"/>
              </a:rPr>
              <a:t>REACTIVE CAP</a:t>
            </a:r>
          </a:p>
        </p:txBody>
      </p:sp>
      <p:sp>
        <p:nvSpPr>
          <p:cNvPr id="9" name="TextBox 8"/>
          <p:cNvSpPr txBox="1"/>
          <p:nvPr/>
        </p:nvSpPr>
        <p:spPr>
          <a:xfrm>
            <a:off x="8000000" y="4300000"/>
            <a:ext cx="5000000" cy="1100000"/>
          </a:xfrm>
          <a:prstGeom prst="rect">
            <a:avLst/>
          </a:prstGeom>
          <a:noFill/>
        </p:spPr>
        <p:txBody>
          <a:bodyPr wrap="square" lIns="0" rIns="0" tIns="0" bIns="0" anchor="t">
            <a:spAutoFit/>
          </a:bodyPr>
          <a:lstStyle/>
          <a:p>
            <a:pPr algn="l"/>
            <a:r>
              <a:rPr sz="6000" b="1" i="0">
                <a:solidFill>
                  <a:srgbClr val="1F1E1D"/>
                </a:solidFill>
                <a:latin typeface="Georgia"/>
              </a:rPr>
              <a:t>+0%</a:t>
            </a:r>
          </a:p>
        </p:txBody>
      </p:sp>
      <p:sp>
        <p:nvSpPr>
          <p:cNvPr id="10" name="TextBox 9"/>
          <p:cNvSpPr txBox="1"/>
          <p:nvPr/>
        </p:nvSpPr>
        <p:spPr>
          <a:xfrm>
            <a:off x="8000000" y="5300000"/>
            <a:ext cx="5000000" cy="400000"/>
          </a:xfrm>
          <a:prstGeom prst="rect">
            <a:avLst/>
          </a:prstGeom>
          <a:noFill/>
        </p:spPr>
        <p:txBody>
          <a:bodyPr wrap="square" lIns="0" rIns="0" tIns="0" bIns="0" anchor="t">
            <a:spAutoFit/>
          </a:bodyPr>
          <a:lstStyle/>
          <a:p>
            <a:pPr algn="l"/>
            <a:r>
              <a:rPr sz="1300" b="0" i="0">
                <a:solidFill>
                  <a:srgbClr val="605E5B"/>
                </a:solidFill>
                <a:latin typeface="Helvetica Neue"/>
              </a:rPr>
              <a:t>indistinguishable from no policy.</a:t>
            </a:r>
          </a:p>
        </p:txBody>
      </p:sp>
      <p:sp>
        <p:nvSpPr>
          <p:cNvPr id="11" name="TextBox 10"/>
          <p:cNvSpPr txBox="1"/>
          <p:nvPr/>
        </p:nvSpPr>
        <p:spPr>
          <a:xfrm>
            <a:off x="8000000" y="5850000"/>
            <a:ext cx="5000000" cy="400000"/>
          </a:xfrm>
          <a:prstGeom prst="rect">
            <a:avLst/>
          </a:prstGeom>
          <a:noFill/>
        </p:spPr>
        <p:txBody>
          <a:bodyPr wrap="square" lIns="0" rIns="0" tIns="0" bIns="0" anchor="t">
            <a:spAutoFit/>
          </a:bodyPr>
          <a:lstStyle/>
          <a:p>
            <a:pPr algn="l"/>
            <a:r>
              <a:rPr sz="1400" b="0" i="0">
                <a:solidFill>
                  <a:srgbClr val="605E5B"/>
                </a:solidFill>
                <a:latin typeface="Helvetica Neue"/>
              </a:rPr>
              <a:t>p &lt; 10⁻³⁵</a:t>
            </a:r>
          </a:p>
        </p:txBody>
      </p:sp>
      <p:sp>
        <p:nvSpPr>
          <p:cNvPr id="12" name="TextBox 11"/>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13" name="TextBox 12"/>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Discussion: What The Model Says</a:t>
            </a:r>
          </a:p>
        </p:txBody>
      </p:sp>
      <p:sp>
        <p:nvSpPr>
          <p:cNvPr id="4" name="TextBox 3"/>
          <p:cNvSpPr txBox="1"/>
          <p:nvPr/>
        </p:nvSpPr>
        <p:spPr>
          <a:xfrm>
            <a:off x="700000" y="1900000"/>
            <a:ext cx="6700000" cy="4800000"/>
          </a:xfrm>
          <a:prstGeom prst="rect">
            <a:avLst/>
          </a:prstGeom>
          <a:noFill/>
        </p:spPr>
        <p:txBody>
          <a:bodyPr wrap="square" lIns="0" rIns="0" tIns="0" bIns="0" anchor="t">
            <a:spAutoFit/>
          </a:bodyPr>
          <a:lstStyle/>
          <a:p>
            <a:pPr algn="l">
              <a:lnSpc>
                <a:spcPct val="150000"/>
              </a:lnSpc>
            </a:pPr>
            <a:r>
              <a:rPr sz="1400" b="1">
                <a:solidFill>
                  <a:srgbClr val="C15F3C"/>
                </a:solidFill>
                <a:latin typeface="Helvetica Neue"/>
              </a:rPr>
              <a:t>·  </a:t>
            </a:r>
            <a:r>
              <a:rPr sz="1400">
                <a:solidFill>
                  <a:srgbClr val="1F1E1D"/>
                </a:solidFill>
                <a:latin typeface="Helvetica Neue"/>
              </a:rPr>
              <a:t>Self-reporting is insufficient. Basin-level visibility is essential.</a:t>
            </a:r>
          </a:p>
          <a:p>
            <a:pPr algn="l">
              <a:lnSpc>
                <a:spcPct val="150000"/>
              </a:lnSpc>
            </a:pPr>
            <a:r>
              <a:rPr sz="1400" b="1">
                <a:solidFill>
                  <a:srgbClr val="C15F3C"/>
                </a:solidFill>
                <a:latin typeface="Helvetica Neue"/>
              </a:rPr>
              <a:t>·  </a:t>
            </a:r>
            <a:r>
              <a:rPr sz="1400">
                <a:solidFill>
                  <a:srgbClr val="1F1E1D"/>
                </a:solidFill>
                <a:latin typeface="Helvetica Neue"/>
              </a:rPr>
              <a:t>Reactive policy at conventional thresholds is structurally equivalent to no policy.</a:t>
            </a:r>
          </a:p>
          <a:p>
            <a:pPr algn="l">
              <a:lnSpc>
                <a:spcPct val="150000"/>
              </a:lnSpc>
            </a:pPr>
            <a:r>
              <a:rPr sz="1400" b="1">
                <a:solidFill>
                  <a:srgbClr val="C15F3C"/>
                </a:solidFill>
                <a:latin typeface="Helvetica Neue"/>
              </a:rPr>
              <a:t>·  </a:t>
            </a:r>
            <a:r>
              <a:rPr sz="1400">
                <a:solidFill>
                  <a:srgbClr val="1F1E1D"/>
                </a:solidFill>
                <a:latin typeface="Helvetica Neue"/>
              </a:rPr>
              <a:t>Staggered entry buys time, not safety. Long-run equilibrium is unchanged.</a:t>
            </a:r>
          </a:p>
          <a:p>
            <a:pPr algn="l">
              <a:lnSpc>
                <a:spcPct val="150000"/>
              </a:lnSpc>
            </a:pPr>
            <a:r>
              <a:rPr sz="1400" b="1">
                <a:solidFill>
                  <a:srgbClr val="C15F3C"/>
                </a:solidFill>
                <a:latin typeface="Helvetica Neue"/>
              </a:rPr>
              <a:t>·  </a:t>
            </a:r>
            <a:r>
              <a:rPr sz="1400">
                <a:solidFill>
                  <a:srgbClr val="1F1E1D"/>
                </a:solidFill>
                <a:latin typeface="Helvetica Neue"/>
              </a:rPr>
              <a:t>A 9x acceleration means by the time politicians notice, it is already too late.</a:t>
            </a:r>
          </a:p>
        </p:txBody>
      </p:sp>
      <p:pic>
        <p:nvPicPr>
          <p:cNvPr id="5" name="Picture 4" descr="fig_scenario_compare.png"/>
          <p:cNvPicPr>
            <a:picLocks noChangeAspect="1"/>
          </p:cNvPicPr>
          <p:nvPr/>
        </p:nvPicPr>
        <p:blipFill>
          <a:blip r:embed="rId2"/>
          <a:stretch>
            <a:fillRect/>
          </a:stretch>
        </p:blipFill>
        <p:spPr>
          <a:xfrm>
            <a:off x="7800000" y="2000000"/>
            <a:ext cx="4833333" cy="3567354"/>
          </a:xfrm>
          <a:prstGeom prst="rect">
            <a:avLst/>
          </a:prstGeom>
        </p:spPr>
      </p:pic>
      <p:sp>
        <p:nvSpPr>
          <p:cNvPr id="6" name="TextBox 5"/>
          <p:cNvSpPr txBox="1"/>
          <p:nvPr/>
        </p:nvSpPr>
        <p:spPr>
          <a:xfrm>
            <a:off x="7800000" y="5647354"/>
            <a:ext cx="4833333" cy="400000"/>
          </a:xfrm>
          <a:prstGeom prst="rect">
            <a:avLst/>
          </a:prstGeom>
          <a:noFill/>
        </p:spPr>
        <p:txBody>
          <a:bodyPr wrap="square" lIns="0" rIns="0" tIns="0" bIns="0" anchor="t">
            <a:spAutoFit/>
          </a:bodyPr>
          <a:lstStyle/>
          <a:p>
            <a:pPr algn="ctr"/>
            <a:r>
              <a:rPr sz="1000" b="0" i="0">
                <a:solidFill>
                  <a:srgbClr val="605E5B"/>
                </a:solidFill>
                <a:latin typeface="Helvetica Neue"/>
              </a:rPr>
              <a:t>Scenario comparison (A / B / C / D)</a:t>
            </a:r>
          </a:p>
        </p:txBody>
      </p:sp>
      <p:sp>
        <p:nvSpPr>
          <p:cNvPr id="7" name="TextBox 6"/>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8" name="TextBox 7"/>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Limitations and Future Work</a:t>
            </a:r>
          </a:p>
        </p:txBody>
      </p:sp>
      <p:sp>
        <p:nvSpPr>
          <p:cNvPr id="4" name="TextBox 3"/>
          <p:cNvSpPr txBox="1"/>
          <p:nvPr/>
        </p:nvSpPr>
        <p:spPr>
          <a:xfrm>
            <a:off x="700000" y="1800000"/>
            <a:ext cx="5900000" cy="400000"/>
          </a:xfrm>
          <a:prstGeom prst="rect">
            <a:avLst/>
          </a:prstGeom>
          <a:noFill/>
        </p:spPr>
        <p:txBody>
          <a:bodyPr wrap="square" lIns="0" rIns="0" tIns="0" bIns="0" anchor="t">
            <a:spAutoFit/>
          </a:bodyPr>
          <a:lstStyle/>
          <a:p>
            <a:pPr algn="l"/>
            <a:r>
              <a:rPr sz="1100" b="1" i="0">
                <a:solidFill>
                  <a:srgbClr val="C15F3C"/>
                </a:solidFill>
                <a:latin typeface="Helvetica Neue"/>
              </a:rPr>
              <a:t>LIMITATIONS</a:t>
            </a:r>
          </a:p>
        </p:txBody>
      </p:sp>
      <p:sp>
        <p:nvSpPr>
          <p:cNvPr id="5" name="TextBox 4"/>
          <p:cNvSpPr txBox="1"/>
          <p:nvPr/>
        </p:nvSpPr>
        <p:spPr>
          <a:xfrm>
            <a:off x="700000" y="2250000"/>
            <a:ext cx="5900000" cy="4500000"/>
          </a:xfrm>
          <a:prstGeom prst="rect">
            <a:avLst/>
          </a:prstGeom>
          <a:noFill/>
        </p:spPr>
        <p:txBody>
          <a:bodyPr wrap="square" lIns="0" rIns="0" tIns="0" bIns="0" anchor="t">
            <a:spAutoFit/>
          </a:bodyPr>
          <a:lstStyle/>
          <a:p>
            <a:pPr algn="l">
              <a:lnSpc>
                <a:spcPct val="140000"/>
              </a:lnSpc>
            </a:pPr>
            <a:r>
              <a:rPr sz="1300" b="1">
                <a:solidFill>
                  <a:srgbClr val="C15F3C"/>
                </a:solidFill>
                <a:latin typeface="Helvetica Neue"/>
              </a:rPr>
              <a:t>·  </a:t>
            </a:r>
            <a:r>
              <a:rPr sz="1300">
                <a:solidFill>
                  <a:srgbClr val="1F1E1D"/>
                </a:solidFill>
                <a:latin typeface="Helvetica Neue"/>
              </a:rPr>
              <a:t>Synthetic parameters (calibrated, not validated against a specific basin)</a:t>
            </a:r>
          </a:p>
          <a:p>
            <a:pPr algn="l">
              <a:lnSpc>
                <a:spcPct val="140000"/>
              </a:lnSpc>
            </a:pPr>
            <a:r>
              <a:rPr sz="1300" b="1">
                <a:solidFill>
                  <a:srgbClr val="C15F3C"/>
                </a:solidFill>
                <a:latin typeface="Helvetica Neue"/>
              </a:rPr>
              <a:t>·  </a:t>
            </a:r>
            <a:r>
              <a:rPr sz="1300">
                <a:solidFill>
                  <a:srgbClr val="1F1E1D"/>
                </a:solidFill>
                <a:latin typeface="Helvetica Neue"/>
              </a:rPr>
              <a:t>No climate-change drift</a:t>
            </a:r>
          </a:p>
          <a:p>
            <a:pPr algn="l">
              <a:lnSpc>
                <a:spcPct val="140000"/>
              </a:lnSpc>
            </a:pPr>
            <a:r>
              <a:rPr sz="1300" b="1">
                <a:solidFill>
                  <a:srgbClr val="C15F3C"/>
                </a:solidFill>
                <a:latin typeface="Helvetica Neue"/>
              </a:rPr>
              <a:t>·  </a:t>
            </a:r>
            <a:r>
              <a:rPr sz="1300">
                <a:solidFill>
                  <a:srgbClr val="1F1E1D"/>
                </a:solidFill>
                <a:latin typeface="Helvetica Neue"/>
              </a:rPr>
              <a:t>Single basin, no inter-basin trade</a:t>
            </a:r>
          </a:p>
          <a:p>
            <a:pPr algn="l">
              <a:lnSpc>
                <a:spcPct val="140000"/>
              </a:lnSpc>
            </a:pPr>
            <a:r>
              <a:rPr sz="1300" b="1">
                <a:solidFill>
                  <a:srgbClr val="C15F3C"/>
                </a:solidFill>
                <a:latin typeface="Helvetica Neue"/>
              </a:rPr>
              <a:t>·  </a:t>
            </a:r>
            <a:r>
              <a:rPr sz="1300">
                <a:solidFill>
                  <a:srgbClr val="1F1E1D"/>
                </a:solidFill>
                <a:latin typeface="Helvetica Neue"/>
              </a:rPr>
              <a:t>Regulator has perfect observability after delay</a:t>
            </a:r>
          </a:p>
          <a:p>
            <a:pPr algn="l">
              <a:lnSpc>
                <a:spcPct val="140000"/>
              </a:lnSpc>
            </a:pPr>
            <a:r>
              <a:rPr sz="1300" b="1">
                <a:solidFill>
                  <a:srgbClr val="C15F3C"/>
                </a:solidFill>
                <a:latin typeface="Helvetica Neue"/>
              </a:rPr>
              <a:t>·  </a:t>
            </a:r>
            <a:r>
              <a:rPr sz="1300">
                <a:solidFill>
                  <a:srgbClr val="1F1E1D"/>
                </a:solidFill>
                <a:latin typeface="Helvetica Neue"/>
              </a:rPr>
              <a:t>Demand is exogenous</a:t>
            </a:r>
          </a:p>
          <a:p>
            <a:pPr algn="l">
              <a:lnSpc>
                <a:spcPct val="140000"/>
              </a:lnSpc>
            </a:pPr>
            <a:r>
              <a:rPr sz="1300" b="1">
                <a:solidFill>
                  <a:srgbClr val="C15F3C"/>
                </a:solidFill>
                <a:latin typeface="Helvetica Neue"/>
              </a:rPr>
              <a:t>·  </a:t>
            </a:r>
            <a:r>
              <a:rPr sz="1300">
                <a:solidFill>
                  <a:srgbClr val="1F1E1D"/>
                </a:solidFill>
                <a:latin typeface="Helvetica Neue"/>
              </a:rPr>
              <a:t>Ag yield loss simplified: below threshold = dead</a:t>
            </a:r>
          </a:p>
        </p:txBody>
      </p:sp>
      <p:sp>
        <p:nvSpPr>
          <p:cNvPr id="6" name="TextBox 5"/>
          <p:cNvSpPr txBox="1"/>
          <p:nvPr/>
        </p:nvSpPr>
        <p:spPr>
          <a:xfrm>
            <a:off x="7100000" y="1800000"/>
            <a:ext cx="5700000" cy="400000"/>
          </a:xfrm>
          <a:prstGeom prst="rect">
            <a:avLst/>
          </a:prstGeom>
          <a:noFill/>
        </p:spPr>
        <p:txBody>
          <a:bodyPr wrap="square" lIns="0" rIns="0" tIns="0" bIns="0" anchor="t">
            <a:spAutoFit/>
          </a:bodyPr>
          <a:lstStyle/>
          <a:p>
            <a:pPr algn="l"/>
            <a:r>
              <a:rPr sz="1100" b="1" i="0">
                <a:solidFill>
                  <a:srgbClr val="C15F3C"/>
                </a:solidFill>
                <a:latin typeface="Helvetica Neue"/>
              </a:rPr>
              <a:t>FUTURE WORK</a:t>
            </a:r>
          </a:p>
        </p:txBody>
      </p:sp>
      <p:sp>
        <p:nvSpPr>
          <p:cNvPr id="7" name="TextBox 6"/>
          <p:cNvSpPr txBox="1"/>
          <p:nvPr/>
        </p:nvSpPr>
        <p:spPr>
          <a:xfrm>
            <a:off x="7100000" y="2250000"/>
            <a:ext cx="5700000" cy="4500000"/>
          </a:xfrm>
          <a:prstGeom prst="rect">
            <a:avLst/>
          </a:prstGeom>
          <a:noFill/>
        </p:spPr>
        <p:txBody>
          <a:bodyPr wrap="square" lIns="0" rIns="0" tIns="0" bIns="0" anchor="t">
            <a:spAutoFit/>
          </a:bodyPr>
          <a:lstStyle/>
          <a:p>
            <a:pPr algn="l">
              <a:lnSpc>
                <a:spcPct val="140000"/>
              </a:lnSpc>
            </a:pPr>
            <a:r>
              <a:rPr sz="1300" b="1">
                <a:solidFill>
                  <a:srgbClr val="C15F3C"/>
                </a:solidFill>
                <a:latin typeface="Helvetica Neue"/>
              </a:rPr>
              <a:t>·  </a:t>
            </a:r>
            <a:r>
              <a:rPr sz="1300">
                <a:solidFill>
                  <a:srgbClr val="1F1E1D"/>
                </a:solidFill>
                <a:latin typeface="Helvetica Neue"/>
              </a:rPr>
              <a:t>Inter-basin water trade</a:t>
            </a:r>
          </a:p>
          <a:p>
            <a:pPr algn="l">
              <a:lnSpc>
                <a:spcPct val="140000"/>
              </a:lnSpc>
            </a:pPr>
            <a:r>
              <a:rPr sz="1300" b="1">
                <a:solidFill>
                  <a:srgbClr val="C15F3C"/>
                </a:solidFill>
                <a:latin typeface="Helvetica Neue"/>
              </a:rPr>
              <a:t>·  </a:t>
            </a:r>
            <a:r>
              <a:rPr sz="1300">
                <a:solidFill>
                  <a:srgbClr val="1F1E1D"/>
                </a:solidFill>
                <a:latin typeface="Helvetica Neue"/>
              </a:rPr>
              <a:t>Climate-change scenarios (drift in recharge)</a:t>
            </a:r>
          </a:p>
          <a:p>
            <a:pPr algn="l">
              <a:lnSpc>
                <a:spcPct val="140000"/>
              </a:lnSpc>
            </a:pPr>
            <a:r>
              <a:rPr sz="1300" b="1">
                <a:solidFill>
                  <a:srgbClr val="C15F3C"/>
                </a:solidFill>
                <a:latin typeface="Helvetica Neue"/>
              </a:rPr>
              <a:t>·  </a:t>
            </a:r>
            <a:r>
              <a:rPr sz="1300">
                <a:solidFill>
                  <a:srgbClr val="1F1E1D"/>
                </a:solidFill>
                <a:latin typeface="Helvetica Neue"/>
              </a:rPr>
              <a:t>Real permit-process modeling</a:t>
            </a:r>
          </a:p>
          <a:p>
            <a:pPr algn="l">
              <a:lnSpc>
                <a:spcPct val="140000"/>
              </a:lnSpc>
            </a:pPr>
            <a:r>
              <a:rPr sz="1300" b="1">
                <a:solidFill>
                  <a:srgbClr val="C15F3C"/>
                </a:solidFill>
                <a:latin typeface="Helvetica Neue"/>
              </a:rPr>
              <a:t>·  </a:t>
            </a:r>
            <a:r>
              <a:rPr sz="1300">
                <a:solidFill>
                  <a:srgbClr val="1F1E1D"/>
                </a:solidFill>
                <a:latin typeface="Helvetica Neue"/>
              </a:rPr>
              <a:t>Inter-operator contestation and bidding</a:t>
            </a:r>
          </a:p>
          <a:p>
            <a:pPr algn="l">
              <a:lnSpc>
                <a:spcPct val="140000"/>
              </a:lnSpc>
            </a:pPr>
            <a:r>
              <a:rPr sz="1300" b="1">
                <a:solidFill>
                  <a:srgbClr val="C15F3C"/>
                </a:solidFill>
                <a:latin typeface="Helvetica Neue"/>
              </a:rPr>
              <a:t>·  </a:t>
            </a:r>
            <a:r>
              <a:rPr sz="1300">
                <a:solidFill>
                  <a:srgbClr val="1F1E1D"/>
                </a:solidFill>
                <a:latin typeface="Helvetica Neue"/>
              </a:rPr>
              <a:t>Endogenous demand response (price elasticity)</a:t>
            </a:r>
          </a:p>
          <a:p>
            <a:pPr algn="l">
              <a:lnSpc>
                <a:spcPct val="140000"/>
              </a:lnSpc>
            </a:pPr>
            <a:r>
              <a:rPr sz="1300" b="1">
                <a:solidFill>
                  <a:srgbClr val="C15F3C"/>
                </a:solidFill>
                <a:latin typeface="Helvetica Neue"/>
              </a:rPr>
              <a:t>·  </a:t>
            </a:r>
            <a:r>
              <a:rPr sz="1300">
                <a:solidFill>
                  <a:srgbClr val="1F1E1D"/>
                </a:solidFill>
                <a:latin typeface="Helvetica Neue"/>
              </a:rPr>
              <a:t>Calibrate to a real candidate basin</a:t>
            </a:r>
          </a:p>
        </p:txBody>
      </p:sp>
      <p:sp>
        <p:nvSpPr>
          <p:cNvPr id="8" name="TextBox 7"/>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9" name="TextBox 8"/>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700000" y="705740"/>
            <a:ext cx="110000" cy="110000"/>
          </a:xfrm>
          <a:prstGeom prst="rect">
            <a:avLst/>
          </a:prstGeom>
          <a:solidFill>
            <a:srgbClr val="C15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0000" y="500000"/>
            <a:ext cx="11643333" cy="900000"/>
          </a:xfrm>
          <a:prstGeom prst="rect">
            <a:avLst/>
          </a:prstGeom>
          <a:noFill/>
        </p:spPr>
        <p:txBody>
          <a:bodyPr wrap="square" lIns="0" rIns="0" tIns="0" bIns="0" anchor="t">
            <a:spAutoFit/>
          </a:bodyPr>
          <a:lstStyle/>
          <a:p>
            <a:pPr algn="l"/>
            <a:r>
              <a:rPr sz="3600" b="1" i="0">
                <a:solidFill>
                  <a:srgbClr val="1F1E1D"/>
                </a:solidFill>
                <a:latin typeface="Georgia"/>
              </a:rPr>
              <a:t>Conclusion and Q&amp;A</a:t>
            </a:r>
          </a:p>
        </p:txBody>
      </p:sp>
      <p:sp>
        <p:nvSpPr>
          <p:cNvPr id="4" name="TextBox 3"/>
          <p:cNvSpPr txBox="1"/>
          <p:nvPr/>
        </p:nvSpPr>
        <p:spPr>
          <a:xfrm>
            <a:off x="700000" y="1800000"/>
            <a:ext cx="11933333" cy="400000"/>
          </a:xfrm>
          <a:prstGeom prst="rect">
            <a:avLst/>
          </a:prstGeom>
          <a:noFill/>
        </p:spPr>
        <p:txBody>
          <a:bodyPr wrap="square" lIns="0" rIns="0" tIns="0" bIns="0" anchor="t">
            <a:spAutoFit/>
          </a:bodyPr>
          <a:lstStyle/>
          <a:p>
            <a:pPr algn="l"/>
            <a:r>
              <a:rPr sz="1100" b="1" i="0">
                <a:solidFill>
                  <a:srgbClr val="C15F3C"/>
                </a:solidFill>
                <a:latin typeface="Helvetica Neue"/>
              </a:rPr>
              <a:t>THREE TAKEAWAYS</a:t>
            </a:r>
          </a:p>
        </p:txBody>
      </p:sp>
      <p:sp>
        <p:nvSpPr>
          <p:cNvPr id="5" name="TextBox 4"/>
          <p:cNvSpPr txBox="1"/>
          <p:nvPr/>
        </p:nvSpPr>
        <p:spPr>
          <a:xfrm>
            <a:off x="700000" y="2300000"/>
            <a:ext cx="550000" cy="600000"/>
          </a:xfrm>
          <a:prstGeom prst="rect">
            <a:avLst/>
          </a:prstGeom>
          <a:noFill/>
        </p:spPr>
        <p:txBody>
          <a:bodyPr wrap="square" lIns="0" rIns="0" tIns="0" bIns="0" anchor="t">
            <a:spAutoFit/>
          </a:bodyPr>
          <a:lstStyle/>
          <a:p>
            <a:pPr algn="l"/>
            <a:r>
              <a:rPr sz="3200" b="1" i="0">
                <a:solidFill>
                  <a:srgbClr val="C15F3C"/>
                </a:solidFill>
                <a:latin typeface="Georgia"/>
              </a:rPr>
              <a:t>1</a:t>
            </a:r>
          </a:p>
        </p:txBody>
      </p:sp>
      <p:sp>
        <p:nvSpPr>
          <p:cNvPr id="6" name="TextBox 5"/>
          <p:cNvSpPr txBox="1"/>
          <p:nvPr/>
        </p:nvSpPr>
        <p:spPr>
          <a:xfrm>
            <a:off x="1400000" y="2370000"/>
            <a:ext cx="11133333" cy="600000"/>
          </a:xfrm>
          <a:prstGeom prst="rect">
            <a:avLst/>
          </a:prstGeom>
          <a:noFill/>
        </p:spPr>
        <p:txBody>
          <a:bodyPr wrap="square" lIns="0" rIns="0" tIns="0" bIns="0" anchor="t">
            <a:spAutoFit/>
          </a:bodyPr>
          <a:lstStyle/>
          <a:p>
            <a:pPr algn="l"/>
            <a:r>
              <a:rPr sz="2000" b="1" i="0">
                <a:solidFill>
                  <a:srgbClr val="1F1E1D"/>
                </a:solidFill>
                <a:latin typeface="Georgia"/>
              </a:rPr>
              <a:t>Unregulated AI growth collapses shared basins on a 5 to 8 year timeline.</a:t>
            </a:r>
          </a:p>
        </p:txBody>
      </p:sp>
      <p:sp>
        <p:nvSpPr>
          <p:cNvPr id="7" name="TextBox 6"/>
          <p:cNvSpPr txBox="1"/>
          <p:nvPr/>
        </p:nvSpPr>
        <p:spPr>
          <a:xfrm>
            <a:off x="700000" y="3100000"/>
            <a:ext cx="550000" cy="600000"/>
          </a:xfrm>
          <a:prstGeom prst="rect">
            <a:avLst/>
          </a:prstGeom>
          <a:noFill/>
        </p:spPr>
        <p:txBody>
          <a:bodyPr wrap="square" lIns="0" rIns="0" tIns="0" bIns="0" anchor="t">
            <a:spAutoFit/>
          </a:bodyPr>
          <a:lstStyle/>
          <a:p>
            <a:pPr algn="l"/>
            <a:r>
              <a:rPr sz="3200" b="1" i="0">
                <a:solidFill>
                  <a:srgbClr val="C15F3C"/>
                </a:solidFill>
                <a:latin typeface="Georgia"/>
              </a:rPr>
              <a:t>2</a:t>
            </a:r>
          </a:p>
        </p:txBody>
      </p:sp>
      <p:sp>
        <p:nvSpPr>
          <p:cNvPr id="8" name="TextBox 7"/>
          <p:cNvSpPr txBox="1"/>
          <p:nvPr/>
        </p:nvSpPr>
        <p:spPr>
          <a:xfrm>
            <a:off x="1400000" y="3170000"/>
            <a:ext cx="11133333" cy="600000"/>
          </a:xfrm>
          <a:prstGeom prst="rect">
            <a:avLst/>
          </a:prstGeom>
          <a:noFill/>
        </p:spPr>
        <p:txBody>
          <a:bodyPr wrap="square" lIns="0" rIns="0" tIns="0" bIns="0" anchor="t">
            <a:spAutoFit/>
          </a:bodyPr>
          <a:lstStyle/>
          <a:p>
            <a:pPr algn="l"/>
            <a:r>
              <a:rPr sz="2000" b="1" i="0">
                <a:solidFill>
                  <a:srgbClr val="1F1E1D"/>
                </a:solidFill>
                <a:latin typeface="Georgia"/>
              </a:rPr>
              <a:t>The collapse is nonlinear. Late warnings will not help.</a:t>
            </a:r>
          </a:p>
        </p:txBody>
      </p:sp>
      <p:sp>
        <p:nvSpPr>
          <p:cNvPr id="9" name="TextBox 8"/>
          <p:cNvSpPr txBox="1"/>
          <p:nvPr/>
        </p:nvSpPr>
        <p:spPr>
          <a:xfrm>
            <a:off x="700000" y="3900000"/>
            <a:ext cx="550000" cy="600000"/>
          </a:xfrm>
          <a:prstGeom prst="rect">
            <a:avLst/>
          </a:prstGeom>
          <a:noFill/>
        </p:spPr>
        <p:txBody>
          <a:bodyPr wrap="square" lIns="0" rIns="0" tIns="0" bIns="0" anchor="t">
            <a:spAutoFit/>
          </a:bodyPr>
          <a:lstStyle/>
          <a:p>
            <a:pPr algn="l"/>
            <a:r>
              <a:rPr sz="3200" b="1" i="0">
                <a:solidFill>
                  <a:srgbClr val="C15F3C"/>
                </a:solidFill>
                <a:latin typeface="Georgia"/>
              </a:rPr>
              <a:t>3</a:t>
            </a:r>
          </a:p>
        </p:txBody>
      </p:sp>
      <p:sp>
        <p:nvSpPr>
          <p:cNvPr id="10" name="TextBox 9"/>
          <p:cNvSpPr txBox="1"/>
          <p:nvPr/>
        </p:nvSpPr>
        <p:spPr>
          <a:xfrm>
            <a:off x="1400000" y="3970000"/>
            <a:ext cx="11133333" cy="600000"/>
          </a:xfrm>
          <a:prstGeom prst="rect">
            <a:avLst/>
          </a:prstGeom>
          <a:noFill/>
        </p:spPr>
        <p:txBody>
          <a:bodyPr wrap="square" lIns="0" rIns="0" tIns="0" bIns="0" anchor="t">
            <a:spAutoFit/>
          </a:bodyPr>
          <a:lstStyle/>
          <a:p>
            <a:pPr algn="l"/>
            <a:r>
              <a:rPr sz="2000" b="1" i="0">
                <a:solidFill>
                  <a:srgbClr val="1F1E1D"/>
                </a:solidFill>
                <a:latin typeface="Georgia"/>
              </a:rPr>
              <a:t>Proactive caps work. Reactive caps do not.</a:t>
            </a:r>
          </a:p>
        </p:txBody>
      </p:sp>
      <p:sp>
        <p:nvSpPr>
          <p:cNvPr id="11" name="TextBox 10"/>
          <p:cNvSpPr txBox="1"/>
          <p:nvPr/>
        </p:nvSpPr>
        <p:spPr>
          <a:xfrm>
            <a:off x="700000" y="5050000"/>
            <a:ext cx="11933333" cy="1000000"/>
          </a:xfrm>
          <a:prstGeom prst="rect">
            <a:avLst/>
          </a:prstGeom>
          <a:noFill/>
        </p:spPr>
        <p:txBody>
          <a:bodyPr wrap="square" lIns="0" rIns="0" tIns="0" bIns="0" anchor="t">
            <a:spAutoFit/>
          </a:bodyPr>
          <a:lstStyle/>
          <a:p>
            <a:pPr algn="l"/>
            <a:r>
              <a:rPr sz="2000" b="0" i="1">
                <a:solidFill>
                  <a:srgbClr val="C15F3C"/>
                </a:solidFill>
                <a:latin typeface="Georgia"/>
              </a:rPr>
              <a:t>"If you want to keep the water on, you have to cap the draw before anyone asks you to."</a:t>
            </a:r>
          </a:p>
        </p:txBody>
      </p:sp>
      <p:sp>
        <p:nvSpPr>
          <p:cNvPr id="12" name="TextBox 11"/>
          <p:cNvSpPr txBox="1"/>
          <p:nvPr/>
        </p:nvSpPr>
        <p:spPr>
          <a:xfrm>
            <a:off x="700000" y="6200000"/>
            <a:ext cx="11933333" cy="400000"/>
          </a:xfrm>
          <a:prstGeom prst="rect">
            <a:avLst/>
          </a:prstGeom>
          <a:noFill/>
        </p:spPr>
        <p:txBody>
          <a:bodyPr wrap="square" lIns="0" rIns="0" tIns="0" bIns="0" anchor="t">
            <a:spAutoFit/>
          </a:bodyPr>
          <a:lstStyle/>
          <a:p>
            <a:pPr algn="l"/>
            <a:r>
              <a:rPr sz="1100" b="0" i="0">
                <a:solidFill>
                  <a:srgbClr val="605E5B"/>
                </a:solidFill>
                <a:latin typeface="Helvetica Neue"/>
              </a:rPr>
              <a:t>Code and data: github.com/cup-noodlehS/ABM-project</a:t>
            </a:r>
          </a:p>
        </p:txBody>
      </p:sp>
      <p:sp>
        <p:nvSpPr>
          <p:cNvPr id="13" name="TextBox 12"/>
          <p:cNvSpPr txBox="1"/>
          <p:nvPr/>
        </p:nvSpPr>
        <p:spPr>
          <a:xfrm>
            <a:off x="700000" y="6600000"/>
            <a:ext cx="11933333" cy="400000"/>
          </a:xfrm>
          <a:prstGeom prst="rect">
            <a:avLst/>
          </a:prstGeom>
          <a:noFill/>
        </p:spPr>
        <p:txBody>
          <a:bodyPr wrap="square" lIns="0" rIns="0" tIns="0" bIns="0" anchor="t">
            <a:spAutoFit/>
          </a:bodyPr>
          <a:lstStyle/>
          <a:p>
            <a:pPr algn="l"/>
            <a:r>
              <a:rPr sz="1600" b="1" i="0">
                <a:solidFill>
                  <a:srgbClr val="1F1E1D"/>
                </a:solidFill>
                <a:latin typeface="Helvetica Neue"/>
              </a:rPr>
              <a:t>Thank you. Questions?</a:t>
            </a:r>
          </a:p>
        </p:txBody>
      </p:sp>
      <p:sp>
        <p:nvSpPr>
          <p:cNvPr id="14" name="TextBox 13"/>
          <p:cNvSpPr txBox="1"/>
          <p:nvPr/>
        </p:nvSpPr>
        <p:spPr>
          <a:xfrm>
            <a:off x="700000" y="7120000"/>
            <a:ext cx="2500000" cy="300000"/>
          </a:xfrm>
          <a:prstGeom prst="rect">
            <a:avLst/>
          </a:prstGeom>
          <a:noFill/>
        </p:spPr>
        <p:txBody>
          <a:bodyPr wrap="square" lIns="0" rIns="0" tIns="0" bIns="0" anchor="t">
            <a:spAutoFit/>
          </a:bodyPr>
          <a:lstStyle/>
          <a:p>
            <a:pPr algn="l"/>
            <a:r>
              <a:rPr sz="900" b="0" i="0">
                <a:solidFill>
                  <a:srgbClr val="605E5B"/>
                </a:solidFill>
                <a:latin typeface="Helvetica Neue"/>
              </a:rPr>
              <a:t>PARCHED</a:t>
            </a:r>
          </a:p>
        </p:txBody>
      </p:sp>
      <p:sp>
        <p:nvSpPr>
          <p:cNvPr id="15" name="TextBox 14"/>
          <p:cNvSpPr txBox="1"/>
          <p:nvPr/>
        </p:nvSpPr>
        <p:spPr>
          <a:xfrm>
            <a:off x="11133333" y="7120000"/>
            <a:ext cx="1500000" cy="300000"/>
          </a:xfrm>
          <a:prstGeom prst="rect">
            <a:avLst/>
          </a:prstGeom>
          <a:noFill/>
        </p:spPr>
        <p:txBody>
          <a:bodyPr wrap="square" lIns="0" rIns="0" tIns="0" bIns="0" anchor="t">
            <a:spAutoFit/>
          </a:bodyPr>
          <a:lstStyle/>
          <a:p>
            <a:pPr algn="r"/>
            <a:r>
              <a:rPr sz="900" b="0" i="0">
                <a:solidFill>
                  <a:srgbClr val="605E5B"/>
                </a:solidFill>
                <a:latin typeface="Helvetica Neue"/>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