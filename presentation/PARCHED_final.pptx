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That means agents for the data centers, farms, residents, and a regulator, plus a basin module that does the bookkeeping on inflows, withdrawals, and stress. Second, we test three concrete hypotheses, which I will introduce on the next slide. Third, we run four policy scenarios, A through D, under matched stochastic conditions. Matched is the key word: every scenario sees the same fifty random seeds, the same weather realizations, the same demand shocks. That way, when scenario C outperforms scenario A, we know the difference is the policy rule and not stochastic luck. This is a small methodological choice but it is what gives the comparative results their teeth.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H1 says that under unregulated growth the basin collapses on a five to eight year timeline. That window is from the back-of-envelope balance between hyperscaler intake rates and basin recharge. H2 is the most interesting claim and the one where the ABM earns its keep: we expect a tipping point around forty percent storage, below which decline is no longer linear. That happens because cooling-tower efficiency depends on water availability, so stress feeds back into demand. A static water-balance equation cannot show you that. H3 says proactive caps, set from day one, will delay critical stress by at least forty percent compared to reactive caps or no policy at all. Each of these has a clean test, which is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that expand on a fixed nine-month schedule, regardless of basin state. Two farms with seasonal demand, one rainfed and one irrigated. One residential community that starts at one hundred thousand people and grows at a configurable annual rate, so its water need compounds over time just like a real city. A regulator that can issue caps but only sees the basin state with a stochastic delay. And we also model DC water restoration, where data centers return a fraction of their daily draw to the basin via funded recharge projects, modeling real-world water-positive pledges from operators like Microsoft and Google. One tick is one day, the model runs for ten years or until collapse. The single most important mechanism is the cooling-stress positive feedback loop, which produces the nonlinear cliff we will see in H2.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came out of running the model with the DC Restore parameter turned up. Here is the narrative. Without restoration our unregulated baseline collapses every single run, mean six years. Now we turn on restoration, which models the water-positive pledges that companies like Microsoft and Google have made publicly: Microsoft wants to be water-positive by 2030, meaning it replenishes more than it consumes. Google has committed to replenishing one hundred and twenty percent of its consumption. We added this mechanism to the model as a configurable fraction of daily draw that is returned to the basin each day. The result is striking. At a hundred percent restoration, the basin stabilizes even under the unregulated scenario. At a hundred and fifty percent, the basin fills to capacity and the net daily aquifer change is positive thirty six point eight megaliters per day. Four data centers running at full capacity, population grown to one hundred and thirty five thousand, zero agricultural complaints. The policy implication is that if restoration obligations are written into operating permits at or above the hundred percent threshold, the regulatory policy mode becomes secondary. The data center itself becomes a water infrastructure asset, not a liability.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700000" y="1500000"/>
            <a:ext cx="11933333" cy="300000"/>
          </a:xfrm>
          <a:prstGeom prst="rect">
            <a:avLst/>
          </a:prstGeom>
          <a:noFill/>
        </p:spPr>
        <p:txBody>
          <a:bodyPr wrap="square" lIns="0" rIns="0" tIns="0" bIns="0" anchor="t">
            <a:spAutoFit/>
          </a:bodyPr>
          <a:lstStyle/>
          <a:p>
            <a:pPr algn="l"/>
            <a:r>
              <a:rPr sz="1100" b="1" i="0">
                <a:solidFill>
                  <a:srgbClr val="7B2D26"/>
                </a:solidFill>
                <a:latin typeface="Helvetica Neue"/>
              </a:rPr>
              <a:t>CMSC 176, FINAL PROJECT</a:t>
            </a:r>
          </a:p>
        </p:txBody>
      </p:sp>
      <p:sp>
        <p:nvSpPr>
          <p:cNvPr id="3" name="TextBox 2"/>
          <p:cNvSpPr txBox="1"/>
          <p:nvPr/>
        </p:nvSpPr>
        <p:spPr>
          <a:xfrm>
            <a:off x="700000" y="1900000"/>
            <a:ext cx="11933333" cy="1600000"/>
          </a:xfrm>
          <a:prstGeom prst="rect">
            <a:avLst/>
          </a:prstGeom>
          <a:noFill/>
        </p:spPr>
        <p:txBody>
          <a:bodyPr wrap="square" lIns="0" rIns="0" tIns="0" bIns="0" anchor="t">
            <a:spAutoFit/>
          </a:bodyPr>
          <a:lstStyle/>
          <a:p>
            <a:pPr algn="l"/>
            <a:r>
              <a:rPr sz="5400" b="1" i="0">
                <a:solidFill>
                  <a:srgbClr val="1F1E1D"/>
                </a:solidFill>
                <a:latin typeface="Georgia"/>
              </a:rPr>
              <a:t>PARCHED: When AI Drinks</a:t>
            </a:r>
          </a:p>
          <a:p>
            <a:pPr algn="l"/>
            <a:r>
              <a:rPr sz="5400" b="1" i="0">
                <a:solidFill>
                  <a:srgbClr val="1F1E1D"/>
                </a:solidFill>
                <a:latin typeface="Georgia"/>
              </a:rPr>
              <a:t>Your Town Dry</a:t>
            </a:r>
          </a:p>
        </p:txBody>
      </p:sp>
      <p:sp>
        <p:nvSpPr>
          <p:cNvPr id="4" name="TextBox 3"/>
          <p:cNvSpPr txBox="1"/>
          <p:nvPr/>
        </p:nvSpPr>
        <p:spPr>
          <a:xfrm>
            <a:off x="700000" y="3850000"/>
            <a:ext cx="11933333" cy="600000"/>
          </a:xfrm>
          <a:prstGeom prst="rect">
            <a:avLst/>
          </a:prstGeom>
          <a:noFill/>
        </p:spPr>
        <p:txBody>
          <a:bodyPr wrap="square" lIns="0" rIns="0" tIns="0" bIns="0" anchor="t">
            <a:spAutoFit/>
          </a:bodyPr>
          <a:lstStyle/>
          <a:p>
            <a:pPr algn="l"/>
            <a:r>
              <a:rPr sz="2200" b="0" i="1">
                <a:solidFill>
                  <a:srgbClr val="605E5B"/>
                </a:solidFill>
                <a:latin typeface="Georgia"/>
              </a:rPr>
              <a:t>An Agent-Based Model of Hyperscaler Water Competition</a:t>
            </a:r>
          </a:p>
        </p:txBody>
      </p:sp>
      <p:sp>
        <p:nvSpPr>
          <p:cNvPr id="5" name="TextBox 4"/>
          <p:cNvSpPr txBox="1"/>
          <p:nvPr/>
        </p:nvSpPr>
        <p:spPr>
          <a:xfrm>
            <a:off x="700000" y="4900000"/>
            <a:ext cx="11933333" cy="420000"/>
          </a:xfrm>
          <a:prstGeom prst="rect">
            <a:avLst/>
          </a:prstGeom>
          <a:noFill/>
        </p:spPr>
        <p:txBody>
          <a:bodyPr wrap="square" lIns="0" rIns="0" tIns="0" bIns="0" anchor="t">
            <a:spAutoFit/>
          </a:bodyPr>
          <a:lstStyle/>
          <a:p>
            <a:pPr algn="l"/>
            <a:r>
              <a:rPr sz="1600" b="1" i="0">
                <a:solidFill>
                  <a:srgbClr val="1F1E1D"/>
                </a:solidFill>
                <a:latin typeface="Helvetica Neue"/>
              </a:rPr>
              <a:t>Sheldon Arthur Sagrado   /   Jed Edison Donaire</a:t>
            </a:r>
          </a:p>
        </p:txBody>
      </p:sp>
      <p:sp>
        <p:nvSpPr>
          <p:cNvPr id="6" name="TextBox 5"/>
          <p:cNvSpPr txBox="1"/>
          <p:nvPr/>
        </p:nvSpPr>
        <p:spPr>
          <a:xfrm>
            <a:off x="700000" y="530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smsagrado@up.edu.ph    jjdonaire@up.edu.ph</a:t>
            </a:r>
          </a:p>
        </p:txBody>
      </p:sp>
      <p:sp>
        <p:nvSpPr>
          <p:cNvPr id="7" name="TextBox 6"/>
          <p:cNvSpPr txBox="1"/>
          <p:nvPr/>
        </p:nvSpPr>
        <p:spPr>
          <a:xfrm>
            <a:off x="700000" y="5650000"/>
            <a:ext cx="11933333" cy="300000"/>
          </a:xfrm>
          <a:prstGeom prst="rect">
            <a:avLst/>
          </a:prstGeom>
          <a:noFill/>
        </p:spPr>
        <p:txBody>
          <a:bodyPr wrap="square" lIns="0" rIns="0" tIns="0" bIns="0" anchor="t">
            <a:spAutoFit/>
          </a:bodyPr>
          <a:lstStyle/>
          <a:p>
            <a:pPr algn="l"/>
            <a:r>
              <a:rPr sz="1000" b="0" i="1">
                <a:solidFill>
                  <a:srgbClr val="605E5B"/>
                </a:solidFill>
                <a:latin typeface="Helvetica Neue"/>
              </a:rPr>
              <a:t>Equal contribution.</a:t>
            </a:r>
          </a:p>
        </p:txBody>
      </p:sp>
      <p:sp>
        <p:nvSpPr>
          <p:cNvPr id="8" name="TextBox 7"/>
          <p:cNvSpPr txBox="1"/>
          <p:nvPr/>
        </p:nvSpPr>
        <p:spPr>
          <a:xfrm>
            <a:off x="700000" y="615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CMSC 176, AY 2025-2026, University of the Philippines Cebu</a:t>
            </a:r>
          </a:p>
        </p:txBody>
      </p:sp>
      <p:sp>
        <p:nvSpPr>
          <p:cNvPr id="9" name="TextBox 8"/>
          <p:cNvSpPr txBox="1"/>
          <p:nvPr/>
        </p:nvSpPr>
        <p:spPr>
          <a:xfrm>
            <a:off x="700000" y="6480000"/>
            <a:ext cx="11933333" cy="300000"/>
          </a:xfrm>
          <a:prstGeom prst="rect">
            <a:avLst/>
          </a:prstGeom>
          <a:noFill/>
        </p:spPr>
        <p:txBody>
          <a:bodyPr wrap="square" lIns="0" rIns="0" tIns="0" bIns="0" anchor="t">
            <a:spAutoFit/>
          </a:bodyPr>
          <a:lstStyle/>
          <a:p>
            <a:pPr algn="l"/>
            <a:r>
              <a:rPr sz="1100" b="0" i="0">
                <a:solidFill>
                  <a:srgbClr val="605E5B"/>
                </a:solidFill>
                <a:latin typeface="Helvetica Neue"/>
              </a:rPr>
              <a:t>May 2026</a:t>
            </a:r>
          </a:p>
        </p:txBody>
      </p:sp>
      <p:sp>
        <p:nvSpPr>
          <p:cNvPr id="10" name="TextBox 9"/>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1" name="TextBox 10"/>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The Hook</a:t>
            </a:r>
          </a:p>
        </p:txBody>
      </p:sp>
      <p:sp>
        <p:nvSpPr>
          <p:cNvPr id="4" name="TextBox 3"/>
          <p:cNvSpPr txBox="1"/>
          <p:nvPr/>
        </p:nvSpPr>
        <p:spPr>
          <a:xfrm>
            <a:off x="700000" y="2000000"/>
            <a:ext cx="11933333" cy="1500000"/>
          </a:xfrm>
          <a:prstGeom prst="rect">
            <a:avLst/>
          </a:prstGeom>
          <a:noFill/>
        </p:spPr>
        <p:txBody>
          <a:bodyPr wrap="square" lIns="0" rIns="0" tIns="0" bIns="0" anchor="t">
            <a:spAutoFit/>
          </a:bodyPr>
          <a:lstStyle/>
          <a:p>
            <a:pPr algn="l"/>
            <a:r>
              <a:rPr sz="7200" b="1" i="0">
                <a:solidFill>
                  <a:srgbClr val="7B2D26"/>
                </a:solidFill>
                <a:latin typeface="Georgia"/>
              </a:rPr>
              <a:t>3 to 5 million liters</a:t>
            </a:r>
          </a:p>
        </p:txBody>
      </p:sp>
      <p:sp>
        <p:nvSpPr>
          <p:cNvPr id="5" name="TextBox 4"/>
          <p:cNvSpPr txBox="1"/>
          <p:nvPr/>
        </p:nvSpPr>
        <p:spPr>
          <a:xfrm>
            <a:off x="700000" y="3500000"/>
            <a:ext cx="11933333" cy="500000"/>
          </a:xfrm>
          <a:prstGeom prst="rect">
            <a:avLst/>
          </a:prstGeom>
          <a:noFill/>
        </p:spPr>
        <p:txBody>
          <a:bodyPr wrap="square" lIns="0" rIns="0" tIns="0" bIns="0" anchor="t">
            <a:spAutoFit/>
          </a:bodyPr>
          <a:lstStyle/>
          <a:p>
            <a:pPr algn="l"/>
            <a:r>
              <a:rPr sz="2200" b="0" i="1">
                <a:solidFill>
                  <a:srgbClr val="1F1E1D"/>
                </a:solidFill>
                <a:latin typeface="Georgia"/>
              </a:rPr>
              <a:t>per day, per hyperscale data center.</a:t>
            </a:r>
          </a:p>
        </p:txBody>
      </p:sp>
      <p:sp>
        <p:nvSpPr>
          <p:cNvPr id="6" name="TextBox 5"/>
          <p:cNvSpPr txBox="1"/>
          <p:nvPr/>
        </p:nvSpPr>
        <p:spPr>
          <a:xfrm>
            <a:off x="700000" y="4700000"/>
            <a:ext cx="11933333" cy="700000"/>
          </a:xfrm>
          <a:prstGeom prst="rect">
            <a:avLst/>
          </a:prstGeom>
          <a:noFill/>
        </p:spPr>
        <p:txBody>
          <a:bodyPr wrap="square" lIns="0" rIns="0" tIns="0" bIns="0" anchor="t">
            <a:spAutoFit/>
          </a:bodyPr>
          <a:lstStyle/>
          <a:p>
            <a:pPr algn="l"/>
            <a:r>
              <a:rPr sz="2200" b="1" i="0">
                <a:solidFill>
                  <a:srgbClr val="1F1E1D"/>
                </a:solidFill>
                <a:latin typeface="Helvetica Neue"/>
              </a:rPr>
              <a:t>And nobody is modeling the basin-level collisions.</a:t>
            </a:r>
          </a:p>
        </p:txBody>
      </p:sp>
      <p:sp>
        <p:nvSpPr>
          <p:cNvPr id="7" name="TextBox 6"/>
          <p:cNvSpPr txBox="1"/>
          <p:nvPr/>
        </p:nvSpPr>
        <p:spPr>
          <a:xfrm>
            <a:off x="700000" y="5500000"/>
            <a:ext cx="11933333" cy="500000"/>
          </a:xfrm>
          <a:prstGeom prst="rect">
            <a:avLst/>
          </a:prstGeom>
          <a:noFill/>
        </p:spPr>
        <p:txBody>
          <a:bodyPr wrap="square" lIns="0" rIns="0" tIns="0" bIns="0" anchor="t">
            <a:spAutoFit/>
          </a:bodyPr>
          <a:lstStyle/>
          <a:p>
            <a:pPr algn="l"/>
            <a:r>
              <a:rPr sz="1000" b="0" i="0">
                <a:solidFill>
                  <a:srgbClr val="605E5B"/>
                </a:solidFill>
                <a:latin typeface="Helvetica Neue"/>
              </a:rPr>
              <a:t>Source: Li et al. (2023), "Making AI Less Thirsty."</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Problem and Research Question</a:t>
            </a:r>
          </a:p>
        </p:txBody>
      </p:sp>
      <p:sp>
        <p:nvSpPr>
          <p:cNvPr id="4" name="TextBox 3"/>
          <p:cNvSpPr txBox="1"/>
          <p:nvPr/>
        </p:nvSpPr>
        <p:spPr>
          <a:xfrm>
            <a:off x="7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SETUP</a:t>
            </a:r>
          </a:p>
        </p:txBody>
      </p:sp>
      <p:sp>
        <p:nvSpPr>
          <p:cNvPr id="5" name="TextBox 4"/>
          <p:cNvSpPr txBox="1"/>
          <p:nvPr/>
        </p:nvSpPr>
        <p:spPr>
          <a:xfrm>
            <a:off x="700000" y="2150000"/>
            <a:ext cx="5800000" cy="3800000"/>
          </a:xfrm>
          <a:prstGeom prst="rect">
            <a:avLst/>
          </a:prstGeom>
          <a:noFill/>
        </p:spPr>
        <p:txBody>
          <a:bodyPr wrap="square" lIns="0" rIns="0" tIns="0" bIns="0" anchor="t">
            <a:spAutoFit/>
          </a:bodyPr>
          <a:lstStyle/>
          <a:p>
            <a:pPr algn="l">
              <a:lnSpc>
                <a:spcPct val="145000"/>
              </a:lnSpc>
            </a:pPr>
            <a:r>
              <a:rPr sz="1600" b="1">
                <a:solidFill>
                  <a:srgbClr val="7B2D26"/>
                </a:solidFill>
                <a:latin typeface="Helvetica Neue"/>
              </a:rPr>
              <a:t>·  </a:t>
            </a:r>
            <a:r>
              <a:rPr sz="1600">
                <a:solidFill>
                  <a:srgbClr val="1F1E1D"/>
                </a:solidFill>
                <a:latin typeface="Helvetica Neue"/>
              </a:rPr>
              <a:t>One shared freshwater basin (30 BL capacity)</a:t>
            </a:r>
          </a:p>
          <a:p>
            <a:pPr algn="l">
              <a:lnSpc>
                <a:spcPct val="145000"/>
              </a:lnSpc>
            </a:pPr>
            <a:r>
              <a:rPr sz="1600" b="1">
                <a:solidFill>
                  <a:srgbClr val="7B2D26"/>
                </a:solidFill>
                <a:latin typeface="Helvetica Neue"/>
              </a:rPr>
              <a:t>·  </a:t>
            </a:r>
            <a:r>
              <a:rPr sz="1600">
                <a:solidFill>
                  <a:srgbClr val="1F1E1D"/>
                </a:solidFill>
                <a:latin typeface="Helvetica Neue"/>
              </a:rPr>
              <a:t>Multiple data centers competing for cooling water</a:t>
            </a:r>
          </a:p>
          <a:p>
            <a:pPr algn="l">
              <a:lnSpc>
                <a:spcPct val="145000"/>
              </a:lnSpc>
            </a:pPr>
            <a:r>
              <a:rPr sz="1600" b="1">
                <a:solidFill>
                  <a:srgbClr val="7B2D26"/>
                </a:solidFill>
                <a:latin typeface="Helvetica Neue"/>
              </a:rPr>
              <a:t>·  </a:t>
            </a:r>
            <a:r>
              <a:rPr sz="1600">
                <a:solidFill>
                  <a:srgbClr val="1F1E1D"/>
                </a:solidFill>
                <a:latin typeface="Helvetica Neue"/>
              </a:rPr>
              <a:t>Residential demand (~100k people, growing each year)</a:t>
            </a:r>
          </a:p>
          <a:p>
            <a:pPr algn="l">
              <a:lnSpc>
                <a:spcPct val="145000"/>
              </a:lnSpc>
            </a:pPr>
            <a:r>
              <a:rPr sz="1600" b="1">
                <a:solidFill>
                  <a:srgbClr val="7B2D26"/>
                </a:solidFill>
                <a:latin typeface="Helvetica Neue"/>
              </a:rPr>
              <a:t>·  </a:t>
            </a:r>
            <a:r>
              <a:rPr sz="1600">
                <a:solidFill>
                  <a:srgbClr val="1F1E1D"/>
                </a:solidFill>
                <a:latin typeface="Helvetica Neue"/>
              </a:rPr>
              <a:t>Agriculture (rainfed and irrigated fields)</a:t>
            </a:r>
          </a:p>
          <a:p>
            <a:pPr algn="l">
              <a:lnSpc>
                <a:spcPct val="145000"/>
              </a:lnSpc>
            </a:pPr>
            <a:r>
              <a:rPr sz="1600" b="1">
                <a:solidFill>
                  <a:srgbClr val="7B2D26"/>
                </a:solidFill>
                <a:latin typeface="Helvetica Neue"/>
              </a:rPr>
              <a:t>·  </a:t>
            </a:r>
            <a:r>
              <a:rPr sz="1600">
                <a:solidFill>
                  <a:srgbClr val="1F1E1D"/>
                </a:solidFill>
                <a:latin typeface="Helvetica Neue"/>
              </a:rPr>
              <a:t>A regulator with delayed observability</a:t>
            </a:r>
          </a:p>
        </p:txBody>
      </p:sp>
      <p:sp>
        <p:nvSpPr>
          <p:cNvPr id="6" name="TextBox 5"/>
          <p:cNvSpPr txBox="1"/>
          <p:nvPr/>
        </p:nvSpPr>
        <p:spPr>
          <a:xfrm>
            <a:off x="70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QUESTION</a:t>
            </a:r>
          </a:p>
        </p:txBody>
      </p:sp>
      <p:sp>
        <p:nvSpPr>
          <p:cNvPr id="7" name="TextBox 6"/>
          <p:cNvSpPr txBox="1"/>
          <p:nvPr/>
        </p:nvSpPr>
        <p:spPr>
          <a:xfrm>
            <a:off x="7000000" y="2150000"/>
            <a:ext cx="5800000" cy="2200000"/>
          </a:xfrm>
          <a:prstGeom prst="rect">
            <a:avLst/>
          </a:prstGeom>
          <a:noFill/>
        </p:spPr>
        <p:txBody>
          <a:bodyPr wrap="square" lIns="0" rIns="0" tIns="0" bIns="0" anchor="t">
            <a:spAutoFit/>
          </a:bodyPr>
          <a:lstStyle/>
          <a:p>
            <a:pPr algn="l"/>
            <a:r>
              <a:rPr sz="2200" b="1" i="0">
                <a:solidFill>
                  <a:srgbClr val="1F1E1D"/>
                </a:solidFill>
                <a:latin typeface="Georgia"/>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400" b="0" i="1">
                <a:solidFill>
                  <a:srgbClr val="605E5B"/>
                </a:solidFill>
                <a:latin typeface="Helvetica Neue"/>
              </a:rPr>
              <a:t>No coordination. No shared meter. No price signal until things break.</a:t>
            </a:r>
          </a:p>
        </p:txBody>
      </p:sp>
      <p:sp>
        <p:nvSpPr>
          <p:cNvPr id="9" name="TextBox 8"/>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0" name="TextBox 9"/>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Objectives</a:t>
            </a:r>
          </a:p>
        </p:txBody>
      </p:sp>
      <p:sp>
        <p:nvSpPr>
          <p:cNvPr id="4" name="TextBox 3"/>
          <p:cNvSpPr txBox="1"/>
          <p:nvPr/>
        </p:nvSpPr>
        <p:spPr>
          <a:xfrm>
            <a:off x="700000" y="2100000"/>
            <a:ext cx="11933333" cy="3500000"/>
          </a:xfrm>
          <a:prstGeom prst="rect">
            <a:avLst/>
          </a:prstGeom>
          <a:noFill/>
        </p:spPr>
        <p:txBody>
          <a:bodyPr wrap="square" lIns="0" rIns="0" tIns="0" bIns="0" anchor="t">
            <a:spAutoFit/>
          </a:bodyPr>
          <a:lstStyle/>
          <a:p>
            <a:pPr algn="l">
              <a:lnSpc>
                <a:spcPct val="160000"/>
              </a:lnSpc>
            </a:pPr>
            <a:r>
              <a:rPr sz="2000" b="1">
                <a:solidFill>
                  <a:srgbClr val="7B2D26"/>
                </a:solidFill>
                <a:latin typeface="Helvetica Neue"/>
              </a:rPr>
              <a:t>·  </a:t>
            </a:r>
            <a:r>
              <a:rPr sz="2000">
                <a:solidFill>
                  <a:srgbClr val="1F1E1D"/>
                </a:solidFill>
                <a:latin typeface="Helvetica Neue"/>
              </a:rPr>
              <a:t>Build a calibrated agent-based model of basin-level water competition</a:t>
            </a:r>
          </a:p>
          <a:p>
            <a:pPr algn="l">
              <a:lnSpc>
                <a:spcPct val="160000"/>
              </a:lnSpc>
            </a:pPr>
            <a:r>
              <a:rPr sz="2000" b="1">
                <a:solidFill>
                  <a:srgbClr val="7B2D26"/>
                </a:solidFill>
                <a:latin typeface="Helvetica Neue"/>
              </a:rPr>
              <a:t>·  </a:t>
            </a:r>
            <a:r>
              <a:rPr sz="2000">
                <a:solidFill>
                  <a:srgbClr val="1F1E1D"/>
                </a:solidFill>
                <a:latin typeface="Helvetica Neue"/>
              </a:rPr>
              <a:t>Test three hypotheses about collapse timing, nonlinearity, and policy effect</a:t>
            </a:r>
          </a:p>
          <a:p>
            <a:pPr algn="l">
              <a:lnSpc>
                <a:spcPct val="160000"/>
              </a:lnSpc>
            </a:pPr>
            <a:r>
              <a:rPr sz="2000" b="1">
                <a:solidFill>
                  <a:srgbClr val="7B2D26"/>
                </a:solidFill>
                <a:latin typeface="Helvetica Neue"/>
              </a:rPr>
              <a:t>·  </a:t>
            </a:r>
            <a:r>
              <a:rPr sz="2000">
                <a:solidFill>
                  <a:srgbClr val="1F1E1D"/>
                </a:solidFill>
                <a:latin typeface="Helvetica Neue"/>
              </a:rPr>
              <a:t>Compare four policy scenarios under matched stochastic conditions</a:t>
            </a:r>
          </a:p>
        </p:txBody>
      </p:sp>
      <p:sp>
        <p:nvSpPr>
          <p:cNvPr id="5" name="TextBox 4"/>
          <p:cNvSpPr txBox="1"/>
          <p:nvPr/>
        </p:nvSpPr>
        <p:spPr>
          <a:xfrm>
            <a:off x="700000" y="5800000"/>
            <a:ext cx="11933333" cy="500000"/>
          </a:xfrm>
          <a:prstGeom prst="rect">
            <a:avLst/>
          </a:prstGeom>
          <a:noFill/>
        </p:spPr>
        <p:txBody>
          <a:bodyPr wrap="square" lIns="0" rIns="0" tIns="0" bIns="0" anchor="t">
            <a:spAutoFit/>
          </a:bodyPr>
          <a:lstStyle/>
          <a:p>
            <a:pPr algn="l"/>
            <a:r>
              <a:rPr sz="1800" b="1" i="1">
                <a:solidFill>
                  <a:srgbClr val="7B2D26"/>
                </a:solidFill>
                <a:latin typeface="Georgia"/>
              </a:rPr>
              <a:t>Same seeds, same shocks, different rules.</a:t>
            </a:r>
          </a:p>
        </p:txBody>
      </p:sp>
      <p:sp>
        <p:nvSpPr>
          <p:cNvPr id="6" name="TextBox 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7" name="TextBox 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Hypotheses</a:t>
            </a:r>
          </a:p>
        </p:txBody>
      </p:sp>
      <p:sp>
        <p:nvSpPr>
          <p:cNvPr id="4" name="TextBox 3"/>
          <p:cNvSpPr txBox="1"/>
          <p:nvPr/>
        </p:nvSpPr>
        <p:spPr>
          <a:xfrm>
            <a:off x="7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H1   COLLAPSE</a:t>
            </a:r>
          </a:p>
        </p:txBody>
      </p:sp>
      <p:sp>
        <p:nvSpPr>
          <p:cNvPr id="5" name="TextBox 4"/>
          <p:cNvSpPr txBox="1"/>
          <p:nvPr/>
        </p:nvSpPr>
        <p:spPr>
          <a:xfrm>
            <a:off x="7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Unregulated growth collapses the basin in 5 to 8 years.</a:t>
            </a:r>
          </a:p>
        </p:txBody>
      </p:sp>
      <p:sp>
        <p:nvSpPr>
          <p:cNvPr id="6" name="TextBox 5"/>
          <p:cNvSpPr txBox="1"/>
          <p:nvPr/>
        </p:nvSpPr>
        <p:spPr>
          <a:xfrm>
            <a:off x="7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Critical-stress crossing under no policy, across 50 replicate runs.</a:t>
            </a:r>
          </a:p>
        </p:txBody>
      </p:sp>
      <p:sp>
        <p:nvSpPr>
          <p:cNvPr id="7" name="TextBox 6"/>
          <p:cNvSpPr txBox="1"/>
          <p:nvPr/>
        </p:nvSpPr>
        <p:spPr>
          <a:xfrm>
            <a:off x="485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H2   TIPPING POINT</a:t>
            </a:r>
          </a:p>
        </p:txBody>
      </p:sp>
      <p:sp>
        <p:nvSpPr>
          <p:cNvPr id="8" name="TextBox 7"/>
          <p:cNvSpPr txBox="1"/>
          <p:nvPr/>
        </p:nvSpPr>
        <p:spPr>
          <a:xfrm>
            <a:off x="485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Decline becomes nonlinear once basin storage drops below 40%.</a:t>
            </a:r>
          </a:p>
        </p:txBody>
      </p:sp>
      <p:sp>
        <p:nvSpPr>
          <p:cNvPr id="9" name="TextBox 8"/>
          <p:cNvSpPr txBox="1"/>
          <p:nvPr/>
        </p:nvSpPr>
        <p:spPr>
          <a:xfrm>
            <a:off x="485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Cooling-stress positive feedback amplifies withdrawals as headroom shrinks.</a:t>
            </a:r>
          </a:p>
        </p:txBody>
      </p:sp>
      <p:sp>
        <p:nvSpPr>
          <p:cNvPr id="10" name="TextBox 9"/>
          <p:cNvSpPr txBox="1"/>
          <p:nvPr/>
        </p:nvSpPr>
        <p:spPr>
          <a:xfrm>
            <a:off x="90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H3   POLICY</a:t>
            </a:r>
          </a:p>
        </p:txBody>
      </p:sp>
      <p:sp>
        <p:nvSpPr>
          <p:cNvPr id="11" name="TextBox 10"/>
          <p:cNvSpPr txBox="1"/>
          <p:nvPr/>
        </p:nvSpPr>
        <p:spPr>
          <a:xfrm>
            <a:off x="90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Proactive caps delay critical stress by 40% or more.</a:t>
            </a:r>
          </a:p>
        </p:txBody>
      </p:sp>
      <p:sp>
        <p:nvSpPr>
          <p:cNvPr id="12" name="TextBox 11"/>
          <p:cNvSpPr txBox="1"/>
          <p:nvPr/>
        </p:nvSpPr>
        <p:spPr>
          <a:xfrm>
            <a:off x="90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Reactive caps and staggered entry do not, once measured against matched seeds.</a:t>
            </a:r>
          </a:p>
        </p:txBody>
      </p:sp>
      <p:sp>
        <p:nvSpPr>
          <p:cNvPr id="13" name="TextBox 12"/>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4" name="TextBox 13"/>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Model Overview</a:t>
            </a:r>
          </a:p>
        </p:txBody>
      </p:sp>
      <p:sp>
        <p:nvSpPr>
          <p:cNvPr id="4" name="TextBox 3"/>
          <p:cNvSpPr txBox="1"/>
          <p:nvPr/>
        </p:nvSpPr>
        <p:spPr>
          <a:xfrm>
            <a:off x="700000" y="1800000"/>
            <a:ext cx="5400000" cy="4500000"/>
          </a:xfrm>
          <a:prstGeom prst="rect">
            <a:avLst/>
          </a:prstGeom>
          <a:noFill/>
        </p:spPr>
        <p:txBody>
          <a:bodyPr wrap="square" lIns="0" rIns="0" tIns="0" bIns="0" anchor="t">
            <a:spAutoFit/>
          </a:bodyPr>
          <a:lstStyle/>
          <a:p>
            <a:pPr algn="l">
              <a:lnSpc>
                <a:spcPct val="145000"/>
              </a:lnSpc>
            </a:pPr>
            <a:r>
              <a:rPr sz="1500" b="1">
                <a:solidFill>
                  <a:srgbClr val="7B2D26"/>
                </a:solidFill>
                <a:latin typeface="Helvetica Neue"/>
              </a:rPr>
              <a:t>·  </a:t>
            </a:r>
            <a:r>
              <a:rPr sz="1500">
                <a:solidFill>
                  <a:srgbClr val="1F1E1D"/>
                </a:solidFill>
                <a:latin typeface="Helvetica Neue"/>
              </a:rPr>
              <a:t>4 data centers (heterogeneous capacity, expand every ~9 months)</a:t>
            </a:r>
          </a:p>
          <a:p>
            <a:pPr algn="l">
              <a:lnSpc>
                <a:spcPct val="145000"/>
              </a:lnSpc>
            </a:pPr>
            <a:r>
              <a:rPr sz="1500" b="1">
                <a:solidFill>
                  <a:srgbClr val="7B2D26"/>
                </a:solidFill>
                <a:latin typeface="Helvetica Neue"/>
              </a:rPr>
              <a:t>·  </a:t>
            </a:r>
            <a:r>
              <a:rPr sz="1500">
                <a:solidFill>
                  <a:srgbClr val="1F1E1D"/>
                </a:solidFill>
                <a:latin typeface="Helvetica Neue"/>
              </a:rPr>
              <a:t>2 farms (rainfed and irrigated, seasonal demand)</a:t>
            </a:r>
          </a:p>
          <a:p>
            <a:pPr algn="l">
              <a:lnSpc>
                <a:spcPct val="145000"/>
              </a:lnSpc>
            </a:pPr>
            <a:r>
              <a:rPr sz="1500" b="1">
                <a:solidFill>
                  <a:srgbClr val="7B2D26"/>
                </a:solidFill>
                <a:latin typeface="Helvetica Neue"/>
              </a:rPr>
              <a:t>·  </a:t>
            </a:r>
            <a:r>
              <a:rPr sz="1500">
                <a:solidFill>
                  <a:srgbClr val="1F1E1D"/>
                </a:solidFill>
                <a:latin typeface="Helvetica Neue"/>
              </a:rPr>
              <a:t>1 residential community (growing population, compound growth)</a:t>
            </a:r>
          </a:p>
          <a:p>
            <a:pPr algn="l">
              <a:lnSpc>
                <a:spcPct val="145000"/>
              </a:lnSpc>
            </a:pPr>
            <a:r>
              <a:rPr sz="1500" b="1">
                <a:solidFill>
                  <a:srgbClr val="7B2D26"/>
                </a:solidFill>
                <a:latin typeface="Helvetica Neue"/>
              </a:rPr>
              <a:t>·  </a:t>
            </a:r>
            <a:r>
              <a:rPr sz="1500">
                <a:solidFill>
                  <a:srgbClr val="1F1E1D"/>
                </a:solidFill>
                <a:latin typeface="Helvetica Neue"/>
              </a:rPr>
              <a:t>1 regulator (delayed observability, 4 policy modes)</a:t>
            </a:r>
          </a:p>
          <a:p>
            <a:pPr algn="l">
              <a:lnSpc>
                <a:spcPct val="145000"/>
              </a:lnSpc>
            </a:pPr>
            <a:r>
              <a:rPr sz="1500" b="1">
                <a:solidFill>
                  <a:srgbClr val="7B2D26"/>
                </a:solidFill>
                <a:latin typeface="Helvetica Neue"/>
              </a:rPr>
              <a:t>·  </a:t>
            </a:r>
            <a:r>
              <a:rPr sz="1500">
                <a:solidFill>
                  <a:srgbClr val="1F1E1D"/>
                </a:solidFill>
                <a:latin typeface="Helvetica Neue"/>
              </a:rPr>
              <a:t>30 BL shared basin, stochastic recharge + nonlinear penalty</a:t>
            </a:r>
          </a:p>
          <a:p>
            <a:pPr algn="l">
              <a:lnSpc>
                <a:spcPct val="145000"/>
              </a:lnSpc>
            </a:pPr>
            <a:r>
              <a:rPr sz="1500" b="1">
                <a:solidFill>
                  <a:srgbClr val="7B2D26"/>
                </a:solidFill>
                <a:latin typeface="Helvetica Neue"/>
              </a:rPr>
              <a:t>·  </a:t>
            </a:r>
            <a:r>
              <a:rPr sz="1500">
                <a:solidFill>
                  <a:srgbClr val="1F1E1D"/>
                </a:solidFill>
                <a:latin typeface="Helvetica Neue"/>
              </a:rPr>
              <a:t>DC water restoration: configurable replenishment fraction</a:t>
            </a:r>
          </a:p>
        </p:txBody>
      </p:sp>
      <p:sp>
        <p:nvSpPr>
          <p:cNvPr id="5" name="TextBox 4"/>
          <p:cNvSpPr txBox="1"/>
          <p:nvPr/>
        </p:nvSpPr>
        <p:spPr>
          <a:xfrm>
            <a:off x="700000" y="6000000"/>
            <a:ext cx="5400000" cy="400000"/>
          </a:xfrm>
          <a:prstGeom prst="rect">
            <a:avLst/>
          </a:prstGeom>
          <a:noFill/>
        </p:spPr>
        <p:txBody>
          <a:bodyPr wrap="square" lIns="0" rIns="0" tIns="0" bIns="0" anchor="t">
            <a:spAutoFit/>
          </a:bodyPr>
          <a:lstStyle/>
          <a:p>
            <a:pPr algn="l"/>
            <a:r>
              <a:rPr sz="1100" b="1" i="0">
                <a:solidFill>
                  <a:srgbClr val="7B2D26"/>
                </a:solidFill>
                <a:latin typeface="Helvetica Neue"/>
              </a:rPr>
              <a:t>1 tick = 1 day   /   10-year horizon   /   stop on collapse   /   live at jed08-parched.hf.space</a:t>
            </a:r>
          </a:p>
        </p:txBody>
      </p:sp>
      <p:pic>
        <p:nvPicPr>
          <p:cNvPr id="6" name="Picture 5" descr="fig_simulation_screenshot.png"/>
          <p:cNvPicPr>
            <a:picLocks noChangeAspect="1"/>
          </p:cNvPicPr>
          <p:nvPr/>
        </p:nvPicPr>
        <p:blipFill>
          <a:blip r:embed="rId2"/>
          <a:stretch>
            <a:fillRect/>
          </a:stretch>
        </p:blipFill>
        <p:spPr>
          <a:xfrm>
            <a:off x="6433333" y="2279667"/>
            <a:ext cx="6200000" cy="3740666"/>
          </a:xfrm>
          <a:prstGeom prst="rect">
            <a:avLst/>
          </a:prstGeom>
        </p:spPr>
      </p:pic>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Parameters and Scenarios</a:t>
            </a:r>
          </a:p>
        </p:txBody>
      </p:sp>
      <p:sp>
        <p:nvSpPr>
          <p:cNvPr id="4" name="TextBox 3"/>
          <p:cNvSpPr txBox="1"/>
          <p:nvPr/>
        </p:nvSpPr>
        <p:spPr>
          <a:xfrm>
            <a:off x="700000" y="1900000"/>
            <a:ext cx="550000" cy="550000"/>
          </a:xfrm>
          <a:prstGeom prst="rect">
            <a:avLst/>
          </a:prstGeom>
          <a:noFill/>
        </p:spPr>
        <p:txBody>
          <a:bodyPr wrap="square" lIns="0" rIns="0" tIns="0" bIns="0" anchor="t">
            <a:spAutoFit/>
          </a:bodyPr>
          <a:lstStyle/>
          <a:p>
            <a:pPr algn="l"/>
            <a:r>
              <a:rPr sz="2800" b="1" i="0">
                <a:solidFill>
                  <a:srgbClr val="7B2D26"/>
                </a:solidFill>
                <a:latin typeface="Georgia"/>
              </a:rPr>
              <a:t>A</a:t>
            </a:r>
          </a:p>
        </p:txBody>
      </p:sp>
      <p:sp>
        <p:nvSpPr>
          <p:cNvPr id="5" name="TextBox 4"/>
          <p:cNvSpPr txBox="1"/>
          <p:nvPr/>
        </p:nvSpPr>
        <p:spPr>
          <a:xfrm>
            <a:off x="1500000" y="1960000"/>
            <a:ext cx="3000000" cy="500000"/>
          </a:xfrm>
          <a:prstGeom prst="rect">
            <a:avLst/>
          </a:prstGeom>
          <a:noFill/>
        </p:spPr>
        <p:txBody>
          <a:bodyPr wrap="square" lIns="0" rIns="0" tIns="0" bIns="0" anchor="t">
            <a:spAutoFit/>
          </a:bodyPr>
          <a:lstStyle/>
          <a:p>
            <a:pPr algn="l"/>
            <a:r>
              <a:rPr sz="2000" b="1" i="0">
                <a:solidFill>
                  <a:srgbClr val="1F1E1D"/>
                </a:solidFill>
                <a:latin typeface="Georgia"/>
              </a:rPr>
              <a:t>Unregulated</a:t>
            </a:r>
          </a:p>
        </p:txBody>
      </p:sp>
      <p:sp>
        <p:nvSpPr>
          <p:cNvPr id="6" name="TextBox 5"/>
          <p:cNvSpPr txBox="1"/>
          <p:nvPr/>
        </p:nvSpPr>
        <p:spPr>
          <a:xfrm>
            <a:off x="4700000" y="199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No cap, no oversight.</a:t>
            </a:r>
          </a:p>
        </p:txBody>
      </p:sp>
      <p:sp>
        <p:nvSpPr>
          <p:cNvPr id="7" name="TextBox 6"/>
          <p:cNvSpPr txBox="1"/>
          <p:nvPr/>
        </p:nvSpPr>
        <p:spPr>
          <a:xfrm>
            <a:off x="700000" y="2620000"/>
            <a:ext cx="550000" cy="550000"/>
          </a:xfrm>
          <a:prstGeom prst="rect">
            <a:avLst/>
          </a:prstGeom>
          <a:noFill/>
        </p:spPr>
        <p:txBody>
          <a:bodyPr wrap="square" lIns="0" rIns="0" tIns="0" bIns="0" anchor="t">
            <a:spAutoFit/>
          </a:bodyPr>
          <a:lstStyle/>
          <a:p>
            <a:pPr algn="l"/>
            <a:r>
              <a:rPr sz="2800" b="1" i="0">
                <a:solidFill>
                  <a:srgbClr val="7B2D26"/>
                </a:solidFill>
                <a:latin typeface="Georgia"/>
              </a:rPr>
              <a:t>B</a:t>
            </a:r>
          </a:p>
        </p:txBody>
      </p:sp>
      <p:sp>
        <p:nvSpPr>
          <p:cNvPr id="8" name="TextBox 7"/>
          <p:cNvSpPr txBox="1"/>
          <p:nvPr/>
        </p:nvSpPr>
        <p:spPr>
          <a:xfrm>
            <a:off x="1500000" y="2680000"/>
            <a:ext cx="3000000" cy="500000"/>
          </a:xfrm>
          <a:prstGeom prst="rect">
            <a:avLst/>
          </a:prstGeom>
          <a:noFill/>
        </p:spPr>
        <p:txBody>
          <a:bodyPr wrap="square" lIns="0" rIns="0" tIns="0" bIns="0" anchor="t">
            <a:spAutoFit/>
          </a:bodyPr>
          <a:lstStyle/>
          <a:p>
            <a:pPr algn="l"/>
            <a:r>
              <a:rPr sz="2000" b="1" i="0">
                <a:solidFill>
                  <a:srgbClr val="1F1E1D"/>
                </a:solidFill>
                <a:latin typeface="Georgia"/>
              </a:rPr>
              <a:t>Reactive cap</a:t>
            </a:r>
          </a:p>
        </p:txBody>
      </p:sp>
      <p:sp>
        <p:nvSpPr>
          <p:cNvPr id="9" name="TextBox 8"/>
          <p:cNvSpPr txBox="1"/>
          <p:nvPr/>
        </p:nvSpPr>
        <p:spPr>
          <a:xfrm>
            <a:off x="4700000" y="271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Cap triggers at 30% basin storage.</a:t>
            </a:r>
          </a:p>
        </p:txBody>
      </p:sp>
      <p:sp>
        <p:nvSpPr>
          <p:cNvPr id="10" name="TextBox 9"/>
          <p:cNvSpPr txBox="1"/>
          <p:nvPr/>
        </p:nvSpPr>
        <p:spPr>
          <a:xfrm>
            <a:off x="700000" y="3340000"/>
            <a:ext cx="550000" cy="550000"/>
          </a:xfrm>
          <a:prstGeom prst="rect">
            <a:avLst/>
          </a:prstGeom>
          <a:noFill/>
        </p:spPr>
        <p:txBody>
          <a:bodyPr wrap="square" lIns="0" rIns="0" tIns="0" bIns="0" anchor="t">
            <a:spAutoFit/>
          </a:bodyPr>
          <a:lstStyle/>
          <a:p>
            <a:pPr algn="l"/>
            <a:r>
              <a:rPr sz="2800" b="1" i="0">
                <a:solidFill>
                  <a:srgbClr val="7B2D26"/>
                </a:solidFill>
                <a:latin typeface="Georgia"/>
              </a:rPr>
              <a:t>C</a:t>
            </a:r>
          </a:p>
        </p:txBody>
      </p:sp>
      <p:sp>
        <p:nvSpPr>
          <p:cNvPr id="11" name="TextBox 10"/>
          <p:cNvSpPr txBox="1"/>
          <p:nvPr/>
        </p:nvSpPr>
        <p:spPr>
          <a:xfrm>
            <a:off x="1500000" y="3400000"/>
            <a:ext cx="3000000" cy="500000"/>
          </a:xfrm>
          <a:prstGeom prst="rect">
            <a:avLst/>
          </a:prstGeom>
          <a:noFill/>
        </p:spPr>
        <p:txBody>
          <a:bodyPr wrap="square" lIns="0" rIns="0" tIns="0" bIns="0" anchor="t">
            <a:spAutoFit/>
          </a:bodyPr>
          <a:lstStyle/>
          <a:p>
            <a:pPr algn="l"/>
            <a:r>
              <a:rPr sz="2000" b="1" i="0">
                <a:solidFill>
                  <a:srgbClr val="1F1E1D"/>
                </a:solidFill>
                <a:latin typeface="Georgia"/>
              </a:rPr>
              <a:t>Proactive cap</a:t>
            </a:r>
          </a:p>
        </p:txBody>
      </p:sp>
      <p:sp>
        <p:nvSpPr>
          <p:cNvPr id="12" name="TextBox 11"/>
          <p:cNvSpPr txBox="1"/>
          <p:nvPr/>
        </p:nvSpPr>
        <p:spPr>
          <a:xfrm>
            <a:off x="4700000" y="343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15 ML/day from t=0.</a:t>
            </a:r>
          </a:p>
        </p:txBody>
      </p:sp>
      <p:sp>
        <p:nvSpPr>
          <p:cNvPr id="13" name="TextBox 12"/>
          <p:cNvSpPr txBox="1"/>
          <p:nvPr/>
        </p:nvSpPr>
        <p:spPr>
          <a:xfrm>
            <a:off x="700000" y="4060000"/>
            <a:ext cx="550000" cy="550000"/>
          </a:xfrm>
          <a:prstGeom prst="rect">
            <a:avLst/>
          </a:prstGeom>
          <a:noFill/>
        </p:spPr>
        <p:txBody>
          <a:bodyPr wrap="square" lIns="0" rIns="0" tIns="0" bIns="0" anchor="t">
            <a:spAutoFit/>
          </a:bodyPr>
          <a:lstStyle/>
          <a:p>
            <a:pPr algn="l"/>
            <a:r>
              <a:rPr sz="2800" b="1" i="0">
                <a:solidFill>
                  <a:srgbClr val="7B2D26"/>
                </a:solidFill>
                <a:latin typeface="Georgia"/>
              </a:rPr>
              <a:t>D</a:t>
            </a:r>
          </a:p>
        </p:txBody>
      </p:sp>
      <p:sp>
        <p:nvSpPr>
          <p:cNvPr id="14" name="TextBox 13"/>
          <p:cNvSpPr txBox="1"/>
          <p:nvPr/>
        </p:nvSpPr>
        <p:spPr>
          <a:xfrm>
            <a:off x="1500000" y="4120000"/>
            <a:ext cx="3000000" cy="500000"/>
          </a:xfrm>
          <a:prstGeom prst="rect">
            <a:avLst/>
          </a:prstGeom>
          <a:noFill/>
        </p:spPr>
        <p:txBody>
          <a:bodyPr wrap="square" lIns="0" rIns="0" tIns="0" bIns="0" anchor="t">
            <a:spAutoFit/>
          </a:bodyPr>
          <a:lstStyle/>
          <a:p>
            <a:pPr algn="l"/>
            <a:r>
              <a:rPr sz="2000" b="1" i="0">
                <a:solidFill>
                  <a:srgbClr val="1F1E1D"/>
                </a:solidFill>
                <a:latin typeface="Georgia"/>
              </a:rPr>
              <a:t>Staggered entry</a:t>
            </a:r>
          </a:p>
        </p:txBody>
      </p:sp>
      <p:sp>
        <p:nvSpPr>
          <p:cNvPr id="15" name="TextBox 14"/>
          <p:cNvSpPr txBox="1"/>
          <p:nvPr/>
        </p:nvSpPr>
        <p:spPr>
          <a:xfrm>
            <a:off x="4700000" y="415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DCs come online in years 0, 2, 4, 6.</a:t>
            </a:r>
          </a:p>
        </p:txBody>
      </p:sp>
      <p:sp>
        <p:nvSpPr>
          <p:cNvPr id="16" name="TextBox 15"/>
          <p:cNvSpPr txBox="1"/>
          <p:nvPr/>
        </p:nvSpPr>
        <p:spPr>
          <a:xfrm>
            <a:off x="700000" y="5900000"/>
            <a:ext cx="11933333" cy="900000"/>
          </a:xfrm>
          <a:prstGeom prst="rect">
            <a:avLst/>
          </a:prstGeom>
          <a:noFill/>
        </p:spPr>
        <p:txBody>
          <a:bodyPr wrap="square" lIns="0" rIns="0" tIns="0" bIns="0" anchor="t">
            <a:spAutoFit/>
          </a:bodyPr>
          <a:lstStyle/>
          <a:p>
            <a:pPr algn="l"/>
            <a:r>
              <a:rPr sz="1400" b="0" i="1">
                <a:solidFill>
                  <a:srgbClr val="7B2D26"/>
                </a:solidFill>
                <a:latin typeface="Georgia"/>
              </a:rPr>
              <a:t>Matched-seed design: every scenario sees the same 50 random seeds, so differences are policy, not luck.</a:t>
            </a:r>
          </a:p>
        </p:txBody>
      </p:sp>
      <p:sp>
        <p:nvSpPr>
          <p:cNvPr id="17" name="TextBox 1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8" name="TextBox 1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How To Read The Simulation</a:t>
            </a:r>
          </a:p>
        </p:txBody>
      </p:sp>
      <p:pic>
        <p:nvPicPr>
          <p:cNvPr id="4" name="Picture 3" descr="fig_basin_timeseries.png"/>
          <p:cNvPicPr>
            <a:picLocks noChangeAspect="1"/>
          </p:cNvPicPr>
          <p:nvPr/>
        </p:nvPicPr>
        <p:blipFill>
          <a:blip r:embed="rId2"/>
          <a:stretch>
            <a:fillRect/>
          </a:stretch>
        </p:blipFill>
        <p:spPr>
          <a:xfrm>
            <a:off x="700000" y="1750000"/>
            <a:ext cx="7573588" cy="4600000"/>
          </a:xfrm>
          <a:prstGeom prst="rect">
            <a:avLst/>
          </a:prstGeom>
        </p:spPr>
      </p:pic>
      <p:sp>
        <p:nvSpPr>
          <p:cNvPr id="5" name="TextBox 4"/>
          <p:cNvSpPr txBox="1"/>
          <p:nvPr/>
        </p:nvSpPr>
        <p:spPr>
          <a:xfrm>
            <a:off x="9300000" y="1800000"/>
            <a:ext cx="3500000" cy="400000"/>
          </a:xfrm>
          <a:prstGeom prst="rect">
            <a:avLst/>
          </a:prstGeom>
          <a:noFill/>
        </p:spPr>
        <p:txBody>
          <a:bodyPr wrap="square" lIns="0" rIns="0" tIns="0" bIns="0" anchor="t">
            <a:spAutoFit/>
          </a:bodyPr>
          <a:lstStyle/>
          <a:p>
            <a:pPr algn="l"/>
            <a:r>
              <a:rPr sz="1100" b="1" i="0">
                <a:solidFill>
                  <a:srgbClr val="7B2D26"/>
                </a:solidFill>
                <a:latin typeface="Helvetica Neue"/>
              </a:rPr>
              <a:t>WHAT TO SEE</a:t>
            </a:r>
          </a:p>
        </p:txBody>
      </p:sp>
      <p:sp>
        <p:nvSpPr>
          <p:cNvPr id="6" name="TextBox 5"/>
          <p:cNvSpPr txBox="1"/>
          <p:nvPr/>
        </p:nvSpPr>
        <p:spPr>
          <a:xfrm>
            <a:off x="9300000" y="22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A and B</a:t>
            </a:r>
          </a:p>
        </p:txBody>
      </p:sp>
      <p:sp>
        <p:nvSpPr>
          <p:cNvPr id="7" name="TextBox 6"/>
          <p:cNvSpPr txBox="1"/>
          <p:nvPr/>
        </p:nvSpPr>
        <p:spPr>
          <a:xfrm>
            <a:off x="9300000" y="26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Identical trajectory. Reactive cap fires after the cliff.</a:t>
            </a:r>
          </a:p>
        </p:txBody>
      </p:sp>
      <p:sp>
        <p:nvSpPr>
          <p:cNvPr id="8" name="TextBox 7"/>
          <p:cNvSpPr txBox="1"/>
          <p:nvPr/>
        </p:nvSpPr>
        <p:spPr>
          <a:xfrm>
            <a:off x="9300000" y="35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C</a:t>
            </a:r>
          </a:p>
        </p:txBody>
      </p:sp>
      <p:sp>
        <p:nvSpPr>
          <p:cNvPr id="9" name="TextBox 8"/>
          <p:cNvSpPr txBox="1"/>
          <p:nvPr/>
        </p:nvSpPr>
        <p:spPr>
          <a:xfrm>
            <a:off x="9300000" y="39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Holds above 90% for the entire decade.</a:t>
            </a:r>
          </a:p>
        </p:txBody>
      </p:sp>
      <p:sp>
        <p:nvSpPr>
          <p:cNvPr id="10" name="TextBox 9"/>
          <p:cNvSpPr txBox="1"/>
          <p:nvPr/>
        </p:nvSpPr>
        <p:spPr>
          <a:xfrm>
            <a:off x="9300000" y="48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D</a:t>
            </a:r>
          </a:p>
        </p:txBody>
      </p:sp>
      <p:sp>
        <p:nvSpPr>
          <p:cNvPr id="11" name="TextBox 10"/>
          <p:cNvSpPr txBox="1"/>
          <p:nvPr/>
        </p:nvSpPr>
        <p:spPr>
          <a:xfrm>
            <a:off x="9300000" y="52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Delays the collapse but the endpoint is unchanged.</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H1: Collapse Timing</a:t>
            </a:r>
          </a:p>
        </p:txBody>
      </p:sp>
      <p:pic>
        <p:nvPicPr>
          <p:cNvPr id="4" name="Picture 3" descr="fig_time_to_stress.png"/>
          <p:cNvPicPr>
            <a:picLocks noChangeAspect="1"/>
          </p:cNvPicPr>
          <p:nvPr/>
        </p:nvPicPr>
        <p:blipFill>
          <a:blip r:embed="rId2"/>
          <a:stretch>
            <a:fillRect/>
          </a:stretch>
        </p:blipFill>
        <p:spPr>
          <a:xfrm>
            <a:off x="700000" y="1750000"/>
            <a:ext cx="6942930" cy="490000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RESULT</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100%</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600" b="0" i="1">
                <a:solidFill>
                  <a:srgbClr val="1F1E1D"/>
                </a:solidFill>
                <a:latin typeface="Georgia"/>
              </a:rPr>
              <a:t>of unregulated runs collapsed.</a:t>
            </a:r>
          </a:p>
        </p:txBody>
      </p:sp>
      <p:sp>
        <p:nvSpPr>
          <p:cNvPr id="8" name="TextBox 7"/>
          <p:cNvSpPr txBox="1"/>
          <p:nvPr/>
        </p:nvSpPr>
        <p:spPr>
          <a:xfrm>
            <a:off x="8800000" y="4500000"/>
            <a:ext cx="4100000" cy="450000"/>
          </a:xfrm>
          <a:prstGeom prst="rect">
            <a:avLst/>
          </a:prstGeom>
          <a:noFill/>
        </p:spPr>
        <p:txBody>
          <a:bodyPr wrap="square" lIns="0" rIns="0" tIns="0" bIns="0" anchor="t">
            <a:spAutoFit/>
          </a:bodyPr>
          <a:lstStyle/>
          <a:p>
            <a:pPr algn="l"/>
            <a:r>
              <a:rPr sz="1800" b="1" i="0">
                <a:solidFill>
                  <a:srgbClr val="1F1E1D"/>
                </a:solidFill>
                <a:latin typeface="Helvetica Neue"/>
              </a:rPr>
              <a:t>Mean: 6.07 ± 0.84 years</a:t>
            </a:r>
          </a:p>
        </p:txBody>
      </p:sp>
      <p:sp>
        <p:nvSpPr>
          <p:cNvPr id="9" name="TextBox 8"/>
          <p:cNvSpPr txBox="1"/>
          <p:nvPr/>
        </p:nvSpPr>
        <p:spPr>
          <a:xfrm>
            <a:off x="8800000" y="500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10⁻²¹</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100" b="0" i="0">
                <a:solidFill>
                  <a:srgbClr val="605E5B"/>
                </a:solidFill>
                <a:latin typeface="Helvetica Neue"/>
              </a:rPr>
              <a:t>n = 50 replicate runs</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H2: Tipping Point</a:t>
            </a:r>
          </a:p>
        </p:txBody>
      </p:sp>
      <p:pic>
        <p:nvPicPr>
          <p:cNvPr id="4" name="Picture 3" descr="fig_tipping_point.png"/>
          <p:cNvPicPr>
            <a:picLocks noChangeAspect="1"/>
          </p:cNvPicPr>
          <p:nvPr/>
        </p:nvPicPr>
        <p:blipFill>
          <a:blip r:embed="rId2"/>
          <a:stretch>
            <a:fillRect/>
          </a:stretch>
        </p:blipFill>
        <p:spPr>
          <a:xfrm>
            <a:off x="700000" y="1750000"/>
            <a:ext cx="7600000" cy="425292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ACCELERATION</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9.25×</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400" b="0" i="1">
                <a:solidFill>
                  <a:srgbClr val="1F1E1D"/>
                </a:solidFill>
                <a:latin typeface="Georgia"/>
              </a:rPr>
              <a:t>decline rate after the 40% threshold.</a:t>
            </a:r>
          </a:p>
        </p:txBody>
      </p:sp>
      <p:sp>
        <p:nvSpPr>
          <p:cNvPr id="8" name="TextBox 7"/>
          <p:cNvSpPr txBox="1"/>
          <p:nvPr/>
        </p:nvSpPr>
        <p:spPr>
          <a:xfrm>
            <a:off x="8800000" y="4400000"/>
            <a:ext cx="4100000" cy="400000"/>
          </a:xfrm>
          <a:prstGeom prst="rect">
            <a:avLst/>
          </a:prstGeom>
          <a:noFill/>
        </p:spPr>
        <p:txBody>
          <a:bodyPr wrap="square" lIns="0" rIns="0" tIns="0" bIns="0" anchor="t">
            <a:spAutoFit/>
          </a:bodyPr>
          <a:lstStyle/>
          <a:p>
            <a:pPr algn="l"/>
            <a:r>
              <a:rPr sz="1500" b="0" i="0">
                <a:solidFill>
                  <a:srgbClr val="605E5B"/>
                </a:solidFill>
                <a:latin typeface="Helvetica Neue"/>
              </a:rPr>
              <a:t>Pre-tipping: 0.07 / yr</a:t>
            </a:r>
          </a:p>
        </p:txBody>
      </p:sp>
      <p:sp>
        <p:nvSpPr>
          <p:cNvPr id="9" name="TextBox 8"/>
          <p:cNvSpPr txBox="1"/>
          <p:nvPr/>
        </p:nvSpPr>
        <p:spPr>
          <a:xfrm>
            <a:off x="8800000" y="4850000"/>
            <a:ext cx="4100000" cy="400000"/>
          </a:xfrm>
          <a:prstGeom prst="rect">
            <a:avLst/>
          </a:prstGeom>
          <a:noFill/>
        </p:spPr>
        <p:txBody>
          <a:bodyPr wrap="square" lIns="0" rIns="0" tIns="0" bIns="0" anchor="t">
            <a:spAutoFit/>
          </a:bodyPr>
          <a:lstStyle/>
          <a:p>
            <a:pPr algn="l"/>
            <a:r>
              <a:rPr sz="1500" b="1" i="0">
                <a:solidFill>
                  <a:srgbClr val="1F1E1D"/>
                </a:solidFill>
                <a:latin typeface="Helvetica Neue"/>
              </a:rPr>
              <a:t>Post-tipping: 0.66 / yr</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10⁻⁷⁴</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H3: Policy Effectiveness</a:t>
            </a:r>
          </a:p>
        </p:txBody>
      </p:sp>
      <p:pic>
        <p:nvPicPr>
          <p:cNvPr id="4" name="Picture 3" descr="fig_yield_loss.png"/>
          <p:cNvPicPr>
            <a:picLocks noChangeAspect="1"/>
          </p:cNvPicPr>
          <p:nvPr/>
        </p:nvPicPr>
        <p:blipFill>
          <a:blip r:embed="rId2"/>
          <a:stretch>
            <a:fillRect/>
          </a:stretch>
        </p:blipFill>
        <p:spPr>
          <a:xfrm>
            <a:off x="700000" y="1750000"/>
            <a:ext cx="6800000" cy="4590366"/>
          </a:xfrm>
          <a:prstGeom prst="rect">
            <a:avLst/>
          </a:prstGeom>
        </p:spPr>
      </p:pic>
      <p:sp>
        <p:nvSpPr>
          <p:cNvPr id="5" name="TextBox 4"/>
          <p:cNvSpPr txBox="1"/>
          <p:nvPr/>
        </p:nvSpPr>
        <p:spPr>
          <a:xfrm>
            <a:off x="8000000" y="1800000"/>
            <a:ext cx="5000000" cy="400000"/>
          </a:xfrm>
          <a:prstGeom prst="rect">
            <a:avLst/>
          </a:prstGeom>
          <a:noFill/>
        </p:spPr>
        <p:txBody>
          <a:bodyPr wrap="square" lIns="0" rIns="0" tIns="0" bIns="0" anchor="t">
            <a:spAutoFit/>
          </a:bodyPr>
          <a:lstStyle/>
          <a:p>
            <a:pPr algn="l"/>
            <a:r>
              <a:rPr sz="1100" b="1" i="0">
                <a:solidFill>
                  <a:srgbClr val="7B2D26"/>
                </a:solidFill>
                <a:latin typeface="Helvetica Neue"/>
              </a:rPr>
              <a:t>PROACTIVE CAP</a:t>
            </a:r>
          </a:p>
        </p:txBody>
      </p:sp>
      <p:sp>
        <p:nvSpPr>
          <p:cNvPr id="6" name="TextBox 5"/>
          <p:cNvSpPr txBox="1"/>
          <p:nvPr/>
        </p:nvSpPr>
        <p:spPr>
          <a:xfrm>
            <a:off x="8000000" y="2200000"/>
            <a:ext cx="5000000" cy="1100000"/>
          </a:xfrm>
          <a:prstGeom prst="rect">
            <a:avLst/>
          </a:prstGeom>
          <a:noFill/>
        </p:spPr>
        <p:txBody>
          <a:bodyPr wrap="square" lIns="0" rIns="0" tIns="0" bIns="0" anchor="t">
            <a:spAutoFit/>
          </a:bodyPr>
          <a:lstStyle/>
          <a:p>
            <a:pPr algn="l"/>
            <a:r>
              <a:rPr sz="6000" b="1" i="0">
                <a:solidFill>
                  <a:srgbClr val="7B2D26"/>
                </a:solidFill>
                <a:latin typeface="Georgia"/>
              </a:rPr>
              <a:t>+65%</a:t>
            </a:r>
          </a:p>
        </p:txBody>
      </p:sp>
      <p:sp>
        <p:nvSpPr>
          <p:cNvPr id="7" name="TextBox 6"/>
          <p:cNvSpPr txBox="1"/>
          <p:nvPr/>
        </p:nvSpPr>
        <p:spPr>
          <a:xfrm>
            <a:off x="8000000" y="32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delay in critical stress onset.</a:t>
            </a:r>
          </a:p>
        </p:txBody>
      </p:sp>
      <p:sp>
        <p:nvSpPr>
          <p:cNvPr id="8" name="TextBox 7"/>
          <p:cNvSpPr txBox="1"/>
          <p:nvPr/>
        </p:nvSpPr>
        <p:spPr>
          <a:xfrm>
            <a:off x="8000000" y="3900000"/>
            <a:ext cx="5000000" cy="400000"/>
          </a:xfrm>
          <a:prstGeom prst="rect">
            <a:avLst/>
          </a:prstGeom>
          <a:noFill/>
        </p:spPr>
        <p:txBody>
          <a:bodyPr wrap="square" lIns="0" rIns="0" tIns="0" bIns="0" anchor="t">
            <a:spAutoFit/>
          </a:bodyPr>
          <a:lstStyle/>
          <a:p>
            <a:pPr algn="l"/>
            <a:r>
              <a:rPr sz="1100" b="1" i="0">
                <a:solidFill>
                  <a:srgbClr val="605E5B"/>
                </a:solidFill>
                <a:latin typeface="Helvetica Neue"/>
              </a:rPr>
              <a:t>REACTIVE CAP</a:t>
            </a:r>
          </a:p>
        </p:txBody>
      </p:sp>
      <p:sp>
        <p:nvSpPr>
          <p:cNvPr id="9" name="TextBox 8"/>
          <p:cNvSpPr txBox="1"/>
          <p:nvPr/>
        </p:nvSpPr>
        <p:spPr>
          <a:xfrm>
            <a:off x="8000000" y="4300000"/>
            <a:ext cx="5000000" cy="1100000"/>
          </a:xfrm>
          <a:prstGeom prst="rect">
            <a:avLst/>
          </a:prstGeom>
          <a:noFill/>
        </p:spPr>
        <p:txBody>
          <a:bodyPr wrap="square" lIns="0" rIns="0" tIns="0" bIns="0" anchor="t">
            <a:spAutoFit/>
          </a:bodyPr>
          <a:lstStyle/>
          <a:p>
            <a:pPr algn="l"/>
            <a:r>
              <a:rPr sz="6000" b="1" i="0">
                <a:solidFill>
                  <a:srgbClr val="1F1E1D"/>
                </a:solidFill>
                <a:latin typeface="Georgia"/>
              </a:rPr>
              <a:t>+0%</a:t>
            </a:r>
          </a:p>
        </p:txBody>
      </p:sp>
      <p:sp>
        <p:nvSpPr>
          <p:cNvPr id="10" name="TextBox 9"/>
          <p:cNvSpPr txBox="1"/>
          <p:nvPr/>
        </p:nvSpPr>
        <p:spPr>
          <a:xfrm>
            <a:off x="8000000" y="53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indistinguishable from no policy.</a:t>
            </a:r>
          </a:p>
        </p:txBody>
      </p:sp>
      <p:sp>
        <p:nvSpPr>
          <p:cNvPr id="11" name="TextBox 10"/>
          <p:cNvSpPr txBox="1"/>
          <p:nvPr/>
        </p:nvSpPr>
        <p:spPr>
          <a:xfrm>
            <a:off x="8000000" y="5850000"/>
            <a:ext cx="50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10⁻³⁵</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Bonus Finding: The Restoration Threshold</a:t>
            </a:r>
          </a:p>
        </p:txBody>
      </p:sp>
      <p:sp>
        <p:nvSpPr>
          <p:cNvPr id="4" name="TextBox 3"/>
          <p:cNvSpPr txBox="1"/>
          <p:nvPr/>
        </p:nvSpPr>
        <p:spPr>
          <a:xfrm>
            <a:off x="700000" y="1700000"/>
            <a:ext cx="11933333" cy="350000"/>
          </a:xfrm>
          <a:prstGeom prst="rect">
            <a:avLst/>
          </a:prstGeom>
          <a:noFill/>
        </p:spPr>
        <p:txBody>
          <a:bodyPr wrap="square" lIns="0" rIns="0" tIns="0" bIns="0" anchor="t">
            <a:spAutoFit/>
          </a:bodyPr>
          <a:lstStyle/>
          <a:p>
            <a:pPr algn="l"/>
            <a:r>
              <a:rPr sz="1100" b="1" i="0">
                <a:solidFill>
                  <a:srgbClr val="7B2D26"/>
                </a:solidFill>
                <a:latin typeface="Helvetica Neue"/>
              </a:rPr>
              <a:t>WHAT HAPPENS WHEN DATA CENTERS GIVE WATER BACK?</a:t>
            </a:r>
          </a:p>
        </p:txBody>
      </p:sp>
      <p:sp>
        <p:nvSpPr>
          <p:cNvPr id="5" name="TextBox 4"/>
          <p:cNvSpPr txBox="1"/>
          <p:nvPr/>
        </p:nvSpPr>
        <p:spPr>
          <a:xfrm>
            <a:off x="700000" y="2150000"/>
            <a:ext cx="5600000" cy="450000"/>
          </a:xfrm>
          <a:prstGeom prst="rect">
            <a:avLst/>
          </a:prstGeom>
          <a:noFill/>
        </p:spPr>
        <p:txBody>
          <a:bodyPr wrap="square" lIns="0" rIns="0" tIns="0" bIns="0" anchor="t">
            <a:spAutoFit/>
          </a:bodyPr>
          <a:lstStyle/>
          <a:p>
            <a:pPr algn="l"/>
            <a:r>
              <a:rPr sz="1500" b="1" i="0">
                <a:solidFill>
                  <a:srgbClr val="1F1E1D"/>
                </a:solidFill>
                <a:latin typeface="Helvetica Neue"/>
              </a:rPr>
              <a:t>WITHOUT restoration (baseline):</a:t>
            </a:r>
          </a:p>
        </p:txBody>
      </p:sp>
      <p:sp>
        <p:nvSpPr>
          <p:cNvPr id="6" name="TextBox 5"/>
          <p:cNvSpPr txBox="1"/>
          <p:nvPr/>
        </p:nvSpPr>
        <p:spPr>
          <a:xfrm>
            <a:off x="700000" y="2600000"/>
            <a:ext cx="5600000" cy="11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Basin drains, collapses in ~6 years</a:t>
            </a:r>
          </a:p>
          <a:p>
            <a:pPr algn="l">
              <a:lnSpc>
                <a:spcPct val="140000"/>
              </a:lnSpc>
            </a:pPr>
            <a:r>
              <a:rPr sz="1300" b="1">
                <a:solidFill>
                  <a:srgbClr val="7B2D26"/>
                </a:solidFill>
                <a:latin typeface="Helvetica Neue"/>
              </a:rPr>
              <a:t>·  </a:t>
            </a:r>
            <a:r>
              <a:rPr sz="1300">
                <a:solidFill>
                  <a:srgbClr val="1F1E1D"/>
                </a:solidFill>
                <a:latin typeface="Helvetica Neue"/>
              </a:rPr>
              <a:t>Every unregulated run fails (100%, n=50)</a:t>
            </a:r>
          </a:p>
        </p:txBody>
      </p:sp>
      <p:sp>
        <p:nvSpPr>
          <p:cNvPr id="7" name="TextBox 6"/>
          <p:cNvSpPr txBox="1"/>
          <p:nvPr/>
        </p:nvSpPr>
        <p:spPr>
          <a:xfrm>
            <a:off x="700000" y="3900000"/>
            <a:ext cx="5600000" cy="450000"/>
          </a:xfrm>
          <a:prstGeom prst="rect">
            <a:avLst/>
          </a:prstGeom>
          <a:noFill/>
        </p:spPr>
        <p:txBody>
          <a:bodyPr wrap="square" lIns="0" rIns="0" tIns="0" bIns="0" anchor="t">
            <a:spAutoFit/>
          </a:bodyPr>
          <a:lstStyle/>
          <a:p>
            <a:pPr algn="l"/>
            <a:r>
              <a:rPr sz="1500" b="1" i="0">
                <a:solidFill>
                  <a:srgbClr val="7B2D26"/>
                </a:solidFill>
                <a:latin typeface="Helvetica Neue"/>
              </a:rPr>
              <a:t>WITH restoration (DC Restore % &gt;= 100%):</a:t>
            </a:r>
          </a:p>
        </p:txBody>
      </p:sp>
      <p:sp>
        <p:nvSpPr>
          <p:cNvPr id="8" name="TextBox 7"/>
          <p:cNvSpPr txBox="1"/>
          <p:nvPr/>
        </p:nvSpPr>
        <p:spPr>
          <a:xfrm>
            <a:off x="700000" y="4350000"/>
            <a:ext cx="5600000" cy="18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Basin climbs to 100% and holds -- even in Unregulated</a:t>
            </a:r>
          </a:p>
          <a:p>
            <a:pPr algn="l">
              <a:lnSpc>
                <a:spcPct val="140000"/>
              </a:lnSpc>
            </a:pPr>
            <a:r>
              <a:rPr sz="1300" b="1">
                <a:solidFill>
                  <a:srgbClr val="7B2D26"/>
                </a:solidFill>
                <a:latin typeface="Helvetica Neue"/>
              </a:rPr>
              <a:t>·  </a:t>
            </a:r>
            <a:r>
              <a:rPr sz="1300">
                <a:solidFill>
                  <a:srgbClr val="1F1E1D"/>
                </a:solidFill>
                <a:latin typeface="Helvetica Neue"/>
              </a:rPr>
              <a:t>Net aquifer gain: +36.8 ML/day at 150% restore</a:t>
            </a:r>
          </a:p>
          <a:p>
            <a:pPr algn="l">
              <a:lnSpc>
                <a:spcPct val="140000"/>
              </a:lnSpc>
            </a:pPr>
            <a:r>
              <a:rPr sz="1300" b="1">
                <a:solidFill>
                  <a:srgbClr val="7B2D26"/>
                </a:solidFill>
                <a:latin typeface="Helvetica Neue"/>
              </a:rPr>
              <a:t>·  </a:t>
            </a:r>
            <a:r>
              <a:rPr sz="1300">
                <a:solidFill>
                  <a:srgbClr val="1F1E1D"/>
                </a:solidFill>
                <a:latin typeface="Helvetica Neue"/>
              </a:rPr>
              <a:t>4 DCs running full capacity (47.7 ML total), zero complaints</a:t>
            </a:r>
          </a:p>
          <a:p>
            <a:pPr algn="l">
              <a:lnSpc>
                <a:spcPct val="140000"/>
              </a:lnSpc>
            </a:pPr>
            <a:r>
              <a:rPr sz="1300" b="1">
                <a:solidFill>
                  <a:srgbClr val="7B2D26"/>
                </a:solidFill>
                <a:latin typeface="Helvetica Neue"/>
              </a:rPr>
              <a:t>·  </a:t>
            </a:r>
            <a:r>
              <a:rPr sz="1300">
                <a:solidFill>
                  <a:srgbClr val="1F1E1D"/>
                </a:solidFill>
                <a:latin typeface="Helvetica Neue"/>
              </a:rPr>
              <a:t>Population grew to 135,000 -- still fully sustained</a:t>
            </a:r>
          </a:p>
        </p:txBody>
      </p:sp>
      <p:sp>
        <p:nvSpPr>
          <p:cNvPr id="9" name="TextBox 8"/>
          <p:cNvSpPr txBox="1"/>
          <p:nvPr/>
        </p:nvSpPr>
        <p:spPr>
          <a:xfrm>
            <a:off x="6700000" y="1700000"/>
            <a:ext cx="6000000" cy="400000"/>
          </a:xfrm>
          <a:prstGeom prst="rect">
            <a:avLst/>
          </a:prstGeom>
          <a:noFill/>
        </p:spPr>
        <p:txBody>
          <a:bodyPr wrap="square" lIns="0" rIns="0" tIns="0" bIns="0" anchor="t">
            <a:spAutoFit/>
          </a:bodyPr>
          <a:lstStyle/>
          <a:p>
            <a:pPr algn="l"/>
            <a:r>
              <a:rPr sz="1100" b="1" i="0">
                <a:solidFill>
                  <a:srgbClr val="7B2D26"/>
                </a:solidFill>
                <a:latin typeface="Helvetica Neue"/>
              </a:rPr>
              <a:t>THE THRESHOLD</a:t>
            </a:r>
          </a:p>
        </p:txBody>
      </p:sp>
      <p:sp>
        <p:nvSpPr>
          <p:cNvPr id="10" name="TextBox 9"/>
          <p:cNvSpPr txBox="1"/>
          <p:nvPr/>
        </p:nvSpPr>
        <p:spPr>
          <a:xfrm>
            <a:off x="6700000" y="2100000"/>
            <a:ext cx="6000000" cy="1400000"/>
          </a:xfrm>
          <a:prstGeom prst="rect">
            <a:avLst/>
          </a:prstGeom>
          <a:noFill/>
        </p:spPr>
        <p:txBody>
          <a:bodyPr wrap="square" lIns="0" rIns="0" tIns="0" bIns="0" anchor="t">
            <a:spAutoFit/>
          </a:bodyPr>
          <a:lstStyle/>
          <a:p>
            <a:pPr algn="l"/>
            <a:r>
              <a:rPr sz="8000" b="1" i="0">
                <a:solidFill>
                  <a:srgbClr val="7B2D26"/>
                </a:solidFill>
                <a:latin typeface="Georgia"/>
              </a:rPr>
              <a:t>~100%</a:t>
            </a:r>
          </a:p>
        </p:txBody>
      </p:sp>
      <p:sp>
        <p:nvSpPr>
          <p:cNvPr id="11" name="TextBox 10"/>
          <p:cNvSpPr txBox="1"/>
          <p:nvPr/>
        </p:nvSpPr>
        <p:spPr>
          <a:xfrm>
            <a:off x="6700000" y="3500000"/>
            <a:ext cx="6000000" cy="700000"/>
          </a:xfrm>
          <a:prstGeom prst="rect">
            <a:avLst/>
          </a:prstGeom>
          <a:noFill/>
        </p:spPr>
        <p:txBody>
          <a:bodyPr wrap="square" lIns="0" rIns="0" tIns="0" bIns="0" anchor="t">
            <a:spAutoFit/>
          </a:bodyPr>
          <a:lstStyle/>
          <a:p>
            <a:pPr algn="l"/>
            <a:r>
              <a:rPr sz="1600" b="0" i="1">
                <a:solidFill>
                  <a:srgbClr val="1F1E1D"/>
                </a:solidFill>
                <a:latin typeface="Georgia"/>
              </a:rPr>
              <a:t>restoration rate flips DCs from</a:t>
            </a:r>
          </a:p>
          <a:p>
            <a:pPr algn="l"/>
            <a:r>
              <a:rPr sz="1600" b="0" i="1">
                <a:solidFill>
                  <a:srgbClr val="1F1E1D"/>
                </a:solidFill>
                <a:latin typeface="Georgia"/>
              </a:rPr>
              <a:t>aquifer drains to replenishers.</a:t>
            </a:r>
          </a:p>
        </p:txBody>
      </p:sp>
      <p:sp>
        <p:nvSpPr>
          <p:cNvPr id="12" name="TextBox 11"/>
          <p:cNvSpPr txBox="1"/>
          <p:nvPr/>
        </p:nvSpPr>
        <p:spPr>
          <a:xfrm>
            <a:off x="6700000" y="4400000"/>
            <a:ext cx="6000000" cy="400000"/>
          </a:xfrm>
          <a:prstGeom prst="rect">
            <a:avLst/>
          </a:prstGeom>
          <a:noFill/>
        </p:spPr>
        <p:txBody>
          <a:bodyPr wrap="square" lIns="0" rIns="0" tIns="0" bIns="0" anchor="t">
            <a:spAutoFit/>
          </a:bodyPr>
          <a:lstStyle/>
          <a:p>
            <a:pPr algn="l"/>
            <a:r>
              <a:rPr sz="1100" b="1" i="0">
                <a:solidFill>
                  <a:srgbClr val="7B2D26"/>
                </a:solidFill>
                <a:latin typeface="Helvetica Neue"/>
              </a:rPr>
              <a:t>REAL-WORLD PARALLEL</a:t>
            </a:r>
          </a:p>
        </p:txBody>
      </p:sp>
      <p:sp>
        <p:nvSpPr>
          <p:cNvPr id="13" name="TextBox 12"/>
          <p:cNvSpPr txBox="1"/>
          <p:nvPr/>
        </p:nvSpPr>
        <p:spPr>
          <a:xfrm>
            <a:off x="6700000" y="4850000"/>
            <a:ext cx="6000000" cy="1600000"/>
          </a:xfrm>
          <a:prstGeom prst="rect">
            <a:avLst/>
          </a:prstGeom>
          <a:noFill/>
        </p:spPr>
        <p:txBody>
          <a:bodyPr wrap="square" lIns="0" rIns="0" tIns="0" bIns="0" anchor="t">
            <a:spAutoFit/>
          </a:bodyPr>
          <a:lstStyle/>
          <a:p>
            <a:pPr algn="l">
              <a:lnSpc>
                <a:spcPct val="135000"/>
              </a:lnSpc>
            </a:pPr>
            <a:r>
              <a:rPr sz="1200" b="1">
                <a:solidFill>
                  <a:srgbClr val="7B2D26"/>
                </a:solidFill>
                <a:latin typeface="Helvetica Neue"/>
              </a:rPr>
              <a:t>·  </a:t>
            </a:r>
            <a:r>
              <a:rPr sz="1200">
                <a:solidFill>
                  <a:srgbClr val="605E5B"/>
                </a:solidFill>
                <a:latin typeface="Helvetica Neue"/>
              </a:rPr>
              <a:t>Microsoft: water-positive pledge by 2030 (replenish &gt;100%)</a:t>
            </a:r>
          </a:p>
          <a:p>
            <a:pPr algn="l">
              <a:lnSpc>
                <a:spcPct val="135000"/>
              </a:lnSpc>
            </a:pPr>
            <a:r>
              <a:rPr sz="1200" b="1">
                <a:solidFill>
                  <a:srgbClr val="7B2D26"/>
                </a:solidFill>
                <a:latin typeface="Helvetica Neue"/>
              </a:rPr>
              <a:t>·  </a:t>
            </a:r>
            <a:r>
              <a:rPr sz="1200">
                <a:solidFill>
                  <a:srgbClr val="605E5B"/>
                </a:solidFill>
                <a:latin typeface="Helvetica Neue"/>
              </a:rPr>
              <a:t>Google: replenish 120% of water consumed</a:t>
            </a:r>
          </a:p>
          <a:p>
            <a:pPr algn="l">
              <a:lnSpc>
                <a:spcPct val="135000"/>
              </a:lnSpc>
            </a:pPr>
            <a:r>
              <a:rPr sz="1200" b="1">
                <a:solidFill>
                  <a:srgbClr val="7B2D26"/>
                </a:solidFill>
                <a:latin typeface="Helvetica Neue"/>
              </a:rPr>
              <a:t>·  </a:t>
            </a:r>
            <a:r>
              <a:rPr sz="1200">
                <a:solidFill>
                  <a:srgbClr val="605E5B"/>
                </a:solidFill>
                <a:latin typeface="Helvetica Neue"/>
              </a:rPr>
              <a:t>Our model quantifies the basin-level effect of that pledge</a:t>
            </a:r>
          </a:p>
        </p:txBody>
      </p:sp>
      <p:sp>
        <p:nvSpPr>
          <p:cNvPr id="14" name="TextBox 13"/>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5" name="TextBox 14"/>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Discussion: What The Model Says</a:t>
            </a:r>
          </a:p>
        </p:txBody>
      </p:sp>
      <p:sp>
        <p:nvSpPr>
          <p:cNvPr id="4" name="TextBox 3"/>
          <p:cNvSpPr txBox="1"/>
          <p:nvPr/>
        </p:nvSpPr>
        <p:spPr>
          <a:xfrm>
            <a:off x="700000" y="1900000"/>
            <a:ext cx="6700000" cy="4800000"/>
          </a:xfrm>
          <a:prstGeom prst="rect">
            <a:avLst/>
          </a:prstGeom>
          <a:noFill/>
        </p:spPr>
        <p:txBody>
          <a:bodyPr wrap="square" lIns="0" rIns="0" tIns="0" bIns="0" anchor="t">
            <a:spAutoFit/>
          </a:bodyPr>
          <a:lstStyle/>
          <a:p>
            <a:pPr algn="l">
              <a:lnSpc>
                <a:spcPct val="150000"/>
              </a:lnSpc>
            </a:pPr>
            <a:r>
              <a:rPr sz="1400" b="1">
                <a:solidFill>
                  <a:srgbClr val="7B2D26"/>
                </a:solidFill>
                <a:latin typeface="Helvetica Neue"/>
              </a:rPr>
              <a:t>·  </a:t>
            </a:r>
            <a:r>
              <a:rPr sz="1400">
                <a:solidFill>
                  <a:srgbClr val="1F1E1D"/>
                </a:solidFill>
                <a:latin typeface="Helvetica Neue"/>
              </a:rPr>
              <a:t>Self-reporting is insufficient. Basin-level visibility is essential.</a:t>
            </a:r>
          </a:p>
          <a:p>
            <a:pPr algn="l">
              <a:lnSpc>
                <a:spcPct val="150000"/>
              </a:lnSpc>
            </a:pPr>
            <a:r>
              <a:rPr sz="1400" b="1">
                <a:solidFill>
                  <a:srgbClr val="7B2D26"/>
                </a:solidFill>
                <a:latin typeface="Helvetica Neue"/>
              </a:rPr>
              <a:t>·  </a:t>
            </a:r>
            <a:r>
              <a:rPr sz="1400">
                <a:solidFill>
                  <a:srgbClr val="1F1E1D"/>
                </a:solidFill>
                <a:latin typeface="Helvetica Neue"/>
              </a:rPr>
              <a:t>Reactive policy at conventional thresholds is structurally equivalent to no policy.</a:t>
            </a:r>
          </a:p>
          <a:p>
            <a:pPr algn="l">
              <a:lnSpc>
                <a:spcPct val="150000"/>
              </a:lnSpc>
            </a:pPr>
            <a:r>
              <a:rPr sz="1400" b="1">
                <a:solidFill>
                  <a:srgbClr val="7B2D26"/>
                </a:solidFill>
                <a:latin typeface="Helvetica Neue"/>
              </a:rPr>
              <a:t>·  </a:t>
            </a:r>
            <a:r>
              <a:rPr sz="1400">
                <a:solidFill>
                  <a:srgbClr val="1F1E1D"/>
                </a:solidFill>
                <a:latin typeface="Helvetica Neue"/>
              </a:rPr>
              <a:t>Staggered entry buys time, not safety. Long-run equilibrium is unchanged.</a:t>
            </a:r>
          </a:p>
          <a:p>
            <a:pPr algn="l">
              <a:lnSpc>
                <a:spcPct val="150000"/>
              </a:lnSpc>
            </a:pPr>
            <a:r>
              <a:rPr sz="1400" b="1">
                <a:solidFill>
                  <a:srgbClr val="7B2D26"/>
                </a:solidFill>
                <a:latin typeface="Helvetica Neue"/>
              </a:rPr>
              <a:t>·  </a:t>
            </a:r>
            <a:r>
              <a:rPr sz="1400">
                <a:solidFill>
                  <a:srgbClr val="1F1E1D"/>
                </a:solidFill>
                <a:latin typeface="Helvetica Neue"/>
              </a:rPr>
              <a:t>A 9x acceleration means by the time politicians notice, it is already too late.</a:t>
            </a:r>
          </a:p>
          <a:p>
            <a:pPr algn="l">
              <a:lnSpc>
                <a:spcPct val="150000"/>
              </a:lnSpc>
            </a:pPr>
            <a:r>
              <a:rPr sz="1400" b="1">
                <a:solidFill>
                  <a:srgbClr val="7B2D26"/>
                </a:solidFill>
                <a:latin typeface="Helvetica Neue"/>
              </a:rPr>
              <a:t>·  </a:t>
            </a:r>
            <a:r>
              <a:rPr sz="1400">
                <a:solidFill>
                  <a:srgbClr val="1F1E1D"/>
                </a:solidFill>
                <a:latin typeface="Helvetica Neue"/>
              </a:rPr>
              <a:t>Restoration obligations &gt;= 100% can flip a data center from threat to asset.</a:t>
            </a:r>
          </a:p>
        </p:txBody>
      </p:sp>
      <p:pic>
        <p:nvPicPr>
          <p:cNvPr id="5" name="Picture 4" descr="fig_scenario_compare.png"/>
          <p:cNvPicPr>
            <a:picLocks noChangeAspect="1"/>
          </p:cNvPicPr>
          <p:nvPr/>
        </p:nvPicPr>
        <p:blipFill>
          <a:blip r:embed="rId2"/>
          <a:stretch>
            <a:fillRect/>
          </a:stretch>
        </p:blipFill>
        <p:spPr>
          <a:xfrm>
            <a:off x="7800000" y="2000000"/>
            <a:ext cx="4833333" cy="3568991"/>
          </a:xfrm>
          <a:prstGeom prst="rect">
            <a:avLst/>
          </a:prstGeom>
        </p:spPr>
      </p:pic>
      <p:sp>
        <p:nvSpPr>
          <p:cNvPr id="6" name="TextBox 5"/>
          <p:cNvSpPr txBox="1"/>
          <p:nvPr/>
        </p:nvSpPr>
        <p:spPr>
          <a:xfrm>
            <a:off x="7800000" y="5648991"/>
            <a:ext cx="4833333" cy="400000"/>
          </a:xfrm>
          <a:prstGeom prst="rect">
            <a:avLst/>
          </a:prstGeom>
          <a:noFill/>
        </p:spPr>
        <p:txBody>
          <a:bodyPr wrap="square" lIns="0" rIns="0" tIns="0" bIns="0" anchor="t">
            <a:spAutoFit/>
          </a:bodyPr>
          <a:lstStyle/>
          <a:p>
            <a:pPr algn="ctr"/>
            <a:r>
              <a:rPr sz="1000" b="0" i="0">
                <a:solidFill>
                  <a:srgbClr val="605E5B"/>
                </a:solidFill>
                <a:latin typeface="Helvetica Neue"/>
              </a:rPr>
              <a:t>Scenario comparison (A / B / C / D)</a:t>
            </a:r>
          </a:p>
        </p:txBody>
      </p:sp>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Limitations and Future Work</a:t>
            </a:r>
          </a:p>
        </p:txBody>
      </p:sp>
      <p:sp>
        <p:nvSpPr>
          <p:cNvPr id="4" name="TextBox 3"/>
          <p:cNvSpPr txBox="1"/>
          <p:nvPr/>
        </p:nvSpPr>
        <p:spPr>
          <a:xfrm>
            <a:off x="700000" y="1800000"/>
            <a:ext cx="5900000" cy="400000"/>
          </a:xfrm>
          <a:prstGeom prst="rect">
            <a:avLst/>
          </a:prstGeom>
          <a:noFill/>
        </p:spPr>
        <p:txBody>
          <a:bodyPr wrap="square" lIns="0" rIns="0" tIns="0" bIns="0" anchor="t">
            <a:spAutoFit/>
          </a:bodyPr>
          <a:lstStyle/>
          <a:p>
            <a:pPr algn="l"/>
            <a:r>
              <a:rPr sz="1100" b="1" i="0">
                <a:solidFill>
                  <a:srgbClr val="7B2D26"/>
                </a:solidFill>
                <a:latin typeface="Helvetica Neue"/>
              </a:rPr>
              <a:t>LIMITATIONS</a:t>
            </a:r>
          </a:p>
        </p:txBody>
      </p:sp>
      <p:sp>
        <p:nvSpPr>
          <p:cNvPr id="5" name="TextBox 4"/>
          <p:cNvSpPr txBox="1"/>
          <p:nvPr/>
        </p:nvSpPr>
        <p:spPr>
          <a:xfrm>
            <a:off x="700000" y="2250000"/>
            <a:ext cx="59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Synthetic parameters (calibrated, not validated against a specific basin)</a:t>
            </a:r>
          </a:p>
          <a:p>
            <a:pPr algn="l">
              <a:lnSpc>
                <a:spcPct val="140000"/>
              </a:lnSpc>
            </a:pPr>
            <a:r>
              <a:rPr sz="1300" b="1">
                <a:solidFill>
                  <a:srgbClr val="7B2D26"/>
                </a:solidFill>
                <a:latin typeface="Helvetica Neue"/>
              </a:rPr>
              <a:t>·  </a:t>
            </a:r>
            <a:r>
              <a:rPr sz="1300">
                <a:solidFill>
                  <a:srgbClr val="1F1E1D"/>
                </a:solidFill>
                <a:latin typeface="Helvetica Neue"/>
              </a:rPr>
              <a:t>No climate-change drift in recharge mean</a:t>
            </a:r>
          </a:p>
          <a:p>
            <a:pPr algn="l">
              <a:lnSpc>
                <a:spcPct val="140000"/>
              </a:lnSpc>
            </a:pPr>
            <a:r>
              <a:rPr sz="1300" b="1">
                <a:solidFill>
                  <a:srgbClr val="7B2D26"/>
                </a:solidFill>
                <a:latin typeface="Helvetica Neue"/>
              </a:rPr>
              <a:t>·  </a:t>
            </a:r>
            <a:r>
              <a:rPr sz="1300">
                <a:solidFill>
                  <a:srgbClr val="1F1E1D"/>
                </a:solidFill>
                <a:latin typeface="Helvetica Neue"/>
              </a:rPr>
              <a:t>Single basin, no inter-basin trade</a:t>
            </a:r>
          </a:p>
          <a:p>
            <a:pPr algn="l">
              <a:lnSpc>
                <a:spcPct val="140000"/>
              </a:lnSpc>
            </a:pPr>
            <a:r>
              <a:rPr sz="1300" b="1">
                <a:solidFill>
                  <a:srgbClr val="7B2D26"/>
                </a:solidFill>
                <a:latin typeface="Helvetica Neue"/>
              </a:rPr>
              <a:t>·  </a:t>
            </a:r>
            <a:r>
              <a:rPr sz="1300">
                <a:solidFill>
                  <a:srgbClr val="1F1E1D"/>
                </a:solidFill>
                <a:latin typeface="Helvetica Neue"/>
              </a:rPr>
              <a:t>Regulator has perfect observability after delay</a:t>
            </a:r>
          </a:p>
          <a:p>
            <a:pPr algn="l">
              <a:lnSpc>
                <a:spcPct val="140000"/>
              </a:lnSpc>
            </a:pPr>
            <a:r>
              <a:rPr sz="1300" b="1">
                <a:solidFill>
                  <a:srgbClr val="7B2D26"/>
                </a:solidFill>
                <a:latin typeface="Helvetica Neue"/>
              </a:rPr>
              <a:t>·  </a:t>
            </a:r>
            <a:r>
              <a:rPr sz="1300">
                <a:solidFill>
                  <a:srgbClr val="1F1E1D"/>
                </a:solidFill>
                <a:latin typeface="Helvetica Neue"/>
              </a:rPr>
              <a:t>DC demand is exogenous (compute growth not price-responsive)</a:t>
            </a:r>
          </a:p>
          <a:p>
            <a:pPr algn="l">
              <a:lnSpc>
                <a:spcPct val="140000"/>
              </a:lnSpc>
            </a:pPr>
            <a:r>
              <a:rPr sz="1300" b="1">
                <a:solidFill>
                  <a:srgbClr val="7B2D26"/>
                </a:solidFill>
                <a:latin typeface="Helvetica Neue"/>
              </a:rPr>
              <a:t>·  </a:t>
            </a:r>
            <a:r>
              <a:rPr sz="1300">
                <a:solidFill>
                  <a:srgbClr val="1F1E1D"/>
                </a:solidFill>
                <a:latin typeface="Helvetica Neue"/>
              </a:rPr>
              <a:t>Ag yield loss simplified: below threshold = dead</a:t>
            </a:r>
          </a:p>
        </p:txBody>
      </p:sp>
      <p:sp>
        <p:nvSpPr>
          <p:cNvPr id="6" name="TextBox 5"/>
          <p:cNvSpPr txBox="1"/>
          <p:nvPr/>
        </p:nvSpPr>
        <p:spPr>
          <a:xfrm>
            <a:off x="7100000" y="1800000"/>
            <a:ext cx="5700000" cy="400000"/>
          </a:xfrm>
          <a:prstGeom prst="rect">
            <a:avLst/>
          </a:prstGeom>
          <a:noFill/>
        </p:spPr>
        <p:txBody>
          <a:bodyPr wrap="square" lIns="0" rIns="0" tIns="0" bIns="0" anchor="t">
            <a:spAutoFit/>
          </a:bodyPr>
          <a:lstStyle/>
          <a:p>
            <a:pPr algn="l"/>
            <a:r>
              <a:rPr sz="1100" b="1" i="0">
                <a:solidFill>
                  <a:srgbClr val="7B2D26"/>
                </a:solidFill>
                <a:latin typeface="Helvetica Neue"/>
              </a:rPr>
              <a:t>FUTURE WORK</a:t>
            </a:r>
          </a:p>
        </p:txBody>
      </p:sp>
      <p:sp>
        <p:nvSpPr>
          <p:cNvPr id="7" name="TextBox 6"/>
          <p:cNvSpPr txBox="1"/>
          <p:nvPr/>
        </p:nvSpPr>
        <p:spPr>
          <a:xfrm>
            <a:off x="7100000" y="2250000"/>
            <a:ext cx="57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Inter-basin water trade</a:t>
            </a:r>
          </a:p>
          <a:p>
            <a:pPr algn="l">
              <a:lnSpc>
                <a:spcPct val="140000"/>
              </a:lnSpc>
            </a:pPr>
            <a:r>
              <a:rPr sz="1300" b="1">
                <a:solidFill>
                  <a:srgbClr val="7B2D26"/>
                </a:solidFill>
                <a:latin typeface="Helvetica Neue"/>
              </a:rPr>
              <a:t>·  </a:t>
            </a:r>
            <a:r>
              <a:rPr sz="1300">
                <a:solidFill>
                  <a:srgbClr val="1F1E1D"/>
                </a:solidFill>
                <a:latin typeface="Helvetica Neue"/>
              </a:rPr>
              <a:t>Climate-change scenarios (drift in recharge mean)</a:t>
            </a:r>
          </a:p>
          <a:p>
            <a:pPr algn="l">
              <a:lnSpc>
                <a:spcPct val="140000"/>
              </a:lnSpc>
            </a:pPr>
            <a:r>
              <a:rPr sz="1300" b="1">
                <a:solidFill>
                  <a:srgbClr val="7B2D26"/>
                </a:solidFill>
                <a:latin typeface="Helvetica Neue"/>
              </a:rPr>
              <a:t>·  </a:t>
            </a:r>
            <a:r>
              <a:rPr sz="1300">
                <a:solidFill>
                  <a:srgbClr val="1F1E1D"/>
                </a:solidFill>
                <a:latin typeface="Helvetica Neue"/>
              </a:rPr>
              <a:t>Real permit-process modeling (political delay curves)</a:t>
            </a:r>
          </a:p>
          <a:p>
            <a:pPr algn="l">
              <a:lnSpc>
                <a:spcPct val="140000"/>
              </a:lnSpc>
            </a:pPr>
            <a:r>
              <a:rPr sz="1300" b="1">
                <a:solidFill>
                  <a:srgbClr val="7B2D26"/>
                </a:solidFill>
                <a:latin typeface="Helvetica Neue"/>
              </a:rPr>
              <a:t>·  </a:t>
            </a:r>
            <a:r>
              <a:rPr sz="1300">
                <a:solidFill>
                  <a:srgbClr val="1F1E1D"/>
                </a:solidFill>
                <a:latin typeface="Helvetica Neue"/>
              </a:rPr>
              <a:t>Inter-operator contestation and bidding</a:t>
            </a:r>
          </a:p>
          <a:p>
            <a:pPr algn="l">
              <a:lnSpc>
                <a:spcPct val="140000"/>
              </a:lnSpc>
            </a:pPr>
            <a:r>
              <a:rPr sz="1300" b="1">
                <a:solidFill>
                  <a:srgbClr val="7B2D26"/>
                </a:solidFill>
                <a:latin typeface="Helvetica Neue"/>
              </a:rPr>
              <a:t>·  </a:t>
            </a:r>
            <a:r>
              <a:rPr sz="1300">
                <a:solidFill>
                  <a:srgbClr val="1F1E1D"/>
                </a:solidFill>
                <a:latin typeface="Helvetica Neue"/>
              </a:rPr>
              <a:t>Endogenous DC demand response (price / water cost)</a:t>
            </a:r>
          </a:p>
          <a:p>
            <a:pPr algn="l">
              <a:lnSpc>
                <a:spcPct val="140000"/>
              </a:lnSpc>
            </a:pPr>
            <a:r>
              <a:rPr sz="1300" b="1">
                <a:solidFill>
                  <a:srgbClr val="7B2D26"/>
                </a:solidFill>
                <a:latin typeface="Helvetica Neue"/>
              </a:rPr>
              <a:t>·  </a:t>
            </a:r>
            <a:r>
              <a:rPr sz="1300">
                <a:solidFill>
                  <a:srgbClr val="1F1E1D"/>
                </a:solidFill>
                <a:latin typeface="Helvetica Neue"/>
              </a:rPr>
              <a:t>Calibrate to a real candidate basin (Pacific NW, Chile)</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Conclusion and Q&amp;A</a:t>
            </a:r>
          </a:p>
        </p:txBody>
      </p:sp>
      <p:sp>
        <p:nvSpPr>
          <p:cNvPr id="4" name="TextBox 3"/>
          <p:cNvSpPr txBox="1"/>
          <p:nvPr/>
        </p:nvSpPr>
        <p:spPr>
          <a:xfrm>
            <a:off x="700000" y="1800000"/>
            <a:ext cx="11933333" cy="400000"/>
          </a:xfrm>
          <a:prstGeom prst="rect">
            <a:avLst/>
          </a:prstGeom>
          <a:noFill/>
        </p:spPr>
        <p:txBody>
          <a:bodyPr wrap="square" lIns="0" rIns="0" tIns="0" bIns="0" anchor="t">
            <a:spAutoFit/>
          </a:bodyPr>
          <a:lstStyle/>
          <a:p>
            <a:pPr algn="l"/>
            <a:r>
              <a:rPr sz="1100" b="1" i="0">
                <a:solidFill>
                  <a:srgbClr val="7B2D26"/>
                </a:solidFill>
                <a:latin typeface="Helvetica Neue"/>
              </a:rPr>
              <a:t>THREE TAKEAWAYS</a:t>
            </a:r>
          </a:p>
        </p:txBody>
      </p:sp>
      <p:sp>
        <p:nvSpPr>
          <p:cNvPr id="5" name="TextBox 4"/>
          <p:cNvSpPr txBox="1"/>
          <p:nvPr/>
        </p:nvSpPr>
        <p:spPr>
          <a:xfrm>
            <a:off x="700000" y="2100000"/>
            <a:ext cx="550000" cy="600000"/>
          </a:xfrm>
          <a:prstGeom prst="rect">
            <a:avLst/>
          </a:prstGeom>
          <a:noFill/>
        </p:spPr>
        <p:txBody>
          <a:bodyPr wrap="square" lIns="0" rIns="0" tIns="0" bIns="0" anchor="t">
            <a:spAutoFit/>
          </a:bodyPr>
          <a:lstStyle/>
          <a:p>
            <a:pPr algn="l"/>
            <a:r>
              <a:rPr sz="3200" b="1" i="0">
                <a:solidFill>
                  <a:srgbClr val="7B2D26"/>
                </a:solidFill>
                <a:latin typeface="Georgia"/>
              </a:rPr>
              <a:t>1</a:t>
            </a:r>
          </a:p>
        </p:txBody>
      </p:sp>
      <p:sp>
        <p:nvSpPr>
          <p:cNvPr id="6" name="TextBox 5"/>
          <p:cNvSpPr txBox="1"/>
          <p:nvPr/>
        </p:nvSpPr>
        <p:spPr>
          <a:xfrm>
            <a:off x="1400000" y="21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Unregulated AI growth collapses shared basins on a 5 to 8 year timeline.</a:t>
            </a:r>
          </a:p>
        </p:txBody>
      </p:sp>
      <p:sp>
        <p:nvSpPr>
          <p:cNvPr id="7" name="TextBox 6"/>
          <p:cNvSpPr txBox="1"/>
          <p:nvPr/>
        </p:nvSpPr>
        <p:spPr>
          <a:xfrm>
            <a:off x="700000" y="2800000"/>
            <a:ext cx="550000" cy="600000"/>
          </a:xfrm>
          <a:prstGeom prst="rect">
            <a:avLst/>
          </a:prstGeom>
          <a:noFill/>
        </p:spPr>
        <p:txBody>
          <a:bodyPr wrap="square" lIns="0" rIns="0" tIns="0" bIns="0" anchor="t">
            <a:spAutoFit/>
          </a:bodyPr>
          <a:lstStyle/>
          <a:p>
            <a:pPr algn="l"/>
            <a:r>
              <a:rPr sz="3200" b="1" i="0">
                <a:solidFill>
                  <a:srgbClr val="7B2D26"/>
                </a:solidFill>
                <a:latin typeface="Georgia"/>
              </a:rPr>
              <a:t>2</a:t>
            </a:r>
          </a:p>
        </p:txBody>
      </p:sp>
      <p:sp>
        <p:nvSpPr>
          <p:cNvPr id="8" name="TextBox 7"/>
          <p:cNvSpPr txBox="1"/>
          <p:nvPr/>
        </p:nvSpPr>
        <p:spPr>
          <a:xfrm>
            <a:off x="1400000" y="28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The collapse is nonlinear. Late warnings will not help.</a:t>
            </a:r>
          </a:p>
        </p:txBody>
      </p:sp>
      <p:sp>
        <p:nvSpPr>
          <p:cNvPr id="9" name="TextBox 8"/>
          <p:cNvSpPr txBox="1"/>
          <p:nvPr/>
        </p:nvSpPr>
        <p:spPr>
          <a:xfrm>
            <a:off x="700000" y="3500000"/>
            <a:ext cx="550000" cy="600000"/>
          </a:xfrm>
          <a:prstGeom prst="rect">
            <a:avLst/>
          </a:prstGeom>
          <a:noFill/>
        </p:spPr>
        <p:txBody>
          <a:bodyPr wrap="square" lIns="0" rIns="0" tIns="0" bIns="0" anchor="t">
            <a:spAutoFit/>
          </a:bodyPr>
          <a:lstStyle/>
          <a:p>
            <a:pPr algn="l"/>
            <a:r>
              <a:rPr sz="3200" b="1" i="0">
                <a:solidFill>
                  <a:srgbClr val="7B2D26"/>
                </a:solidFill>
                <a:latin typeface="Georgia"/>
              </a:rPr>
              <a:t>3</a:t>
            </a:r>
          </a:p>
        </p:txBody>
      </p:sp>
      <p:sp>
        <p:nvSpPr>
          <p:cNvPr id="10" name="TextBox 9"/>
          <p:cNvSpPr txBox="1"/>
          <p:nvPr/>
        </p:nvSpPr>
        <p:spPr>
          <a:xfrm>
            <a:off x="1400000" y="35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Proactive caps work. Reactive caps do not.</a:t>
            </a:r>
          </a:p>
        </p:txBody>
      </p:sp>
      <p:sp>
        <p:nvSpPr>
          <p:cNvPr id="11" name="TextBox 10"/>
          <p:cNvSpPr txBox="1"/>
          <p:nvPr/>
        </p:nvSpPr>
        <p:spPr>
          <a:xfrm>
            <a:off x="700000" y="4200000"/>
            <a:ext cx="550000" cy="600000"/>
          </a:xfrm>
          <a:prstGeom prst="rect">
            <a:avLst/>
          </a:prstGeom>
          <a:noFill/>
        </p:spPr>
        <p:txBody>
          <a:bodyPr wrap="square" lIns="0" rIns="0" tIns="0" bIns="0" anchor="t">
            <a:spAutoFit/>
          </a:bodyPr>
          <a:lstStyle/>
          <a:p>
            <a:pPr algn="l"/>
            <a:r>
              <a:rPr sz="3200" b="1" i="0">
                <a:solidFill>
                  <a:srgbClr val="7B2D26"/>
                </a:solidFill>
                <a:latin typeface="Georgia"/>
              </a:rPr>
              <a:t>4</a:t>
            </a:r>
          </a:p>
        </p:txBody>
      </p:sp>
      <p:sp>
        <p:nvSpPr>
          <p:cNvPr id="12" name="TextBox 11"/>
          <p:cNvSpPr txBox="1"/>
          <p:nvPr/>
        </p:nvSpPr>
        <p:spPr>
          <a:xfrm>
            <a:off x="1400000" y="42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Restoration &gt;= 100% turns data centers into water assets, not liabilities.</a:t>
            </a:r>
          </a:p>
        </p:txBody>
      </p:sp>
      <p:sp>
        <p:nvSpPr>
          <p:cNvPr id="13" name="TextBox 12"/>
          <p:cNvSpPr txBox="1"/>
          <p:nvPr/>
        </p:nvSpPr>
        <p:spPr>
          <a:xfrm>
            <a:off x="700000" y="5050000"/>
            <a:ext cx="11933333" cy="800000"/>
          </a:xfrm>
          <a:prstGeom prst="rect">
            <a:avLst/>
          </a:prstGeom>
          <a:noFill/>
        </p:spPr>
        <p:txBody>
          <a:bodyPr wrap="square" lIns="0" rIns="0" tIns="0" bIns="0" anchor="t">
            <a:spAutoFit/>
          </a:bodyPr>
          <a:lstStyle/>
          <a:p>
            <a:pPr algn="l"/>
            <a:r>
              <a:rPr sz="1700" b="0" i="1">
                <a:solidFill>
                  <a:srgbClr val="7B2D26"/>
                </a:solidFill>
                <a:latin typeface="Georgia"/>
              </a:rPr>
              <a:t>"If you want to keep the water on, cap the draw before anyone asks -- or make the data center pay it back."</a:t>
            </a:r>
          </a:p>
        </p:txBody>
      </p:sp>
      <p:sp>
        <p:nvSpPr>
          <p:cNvPr id="14" name="TextBox 13"/>
          <p:cNvSpPr txBox="1"/>
          <p:nvPr/>
        </p:nvSpPr>
        <p:spPr>
          <a:xfrm>
            <a:off x="700000" y="6000000"/>
            <a:ext cx="11933333" cy="400000"/>
          </a:xfrm>
          <a:prstGeom prst="rect">
            <a:avLst/>
          </a:prstGeom>
          <a:noFill/>
        </p:spPr>
        <p:txBody>
          <a:bodyPr wrap="square" lIns="0" rIns="0" tIns="0" bIns="0" anchor="t">
            <a:spAutoFit/>
          </a:bodyPr>
          <a:lstStyle/>
          <a:p>
            <a:pPr algn="l"/>
            <a:r>
              <a:rPr sz="1100" b="0" i="0">
                <a:solidFill>
                  <a:srgbClr val="605E5B"/>
                </a:solidFill>
                <a:latin typeface="Helvetica Neue"/>
              </a:rPr>
              <a:t>Code and data: github.com/cup-noodlehS/ABM-project</a:t>
            </a:r>
          </a:p>
        </p:txBody>
      </p:sp>
      <p:sp>
        <p:nvSpPr>
          <p:cNvPr id="15" name="TextBox 14"/>
          <p:cNvSpPr txBox="1"/>
          <p:nvPr/>
        </p:nvSpPr>
        <p:spPr>
          <a:xfrm>
            <a:off x="700000" y="6450000"/>
            <a:ext cx="11933333" cy="400000"/>
          </a:xfrm>
          <a:prstGeom prst="rect">
            <a:avLst/>
          </a:prstGeom>
          <a:noFill/>
        </p:spPr>
        <p:txBody>
          <a:bodyPr wrap="square" lIns="0" rIns="0" tIns="0" bIns="0" anchor="t">
            <a:spAutoFit/>
          </a:bodyPr>
          <a:lstStyle/>
          <a:p>
            <a:pPr algn="l"/>
            <a:r>
              <a:rPr sz="1600" b="1" i="0">
                <a:solidFill>
                  <a:srgbClr val="1F1E1D"/>
                </a:solidFill>
                <a:latin typeface="Helvetica Neue"/>
              </a:rPr>
              <a:t>Thank you. Questions?</a:t>
            </a:r>
          </a:p>
        </p:txBody>
      </p:sp>
      <p:sp>
        <p:nvSpPr>
          <p:cNvPr id="16" name="TextBox 1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7" name="TextBox 1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