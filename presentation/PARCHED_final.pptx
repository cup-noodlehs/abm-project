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That means agents for the data centers, farms, residents, and a regulator, plus a basin module that does the bookkeeping on inflows, withdrawals, and stress. Second, we test three concrete hypotheses, which I will introduce on the next slide. Third, we run four policy scenarios, A through D, under matched stochastic conditions. Matched is the key word: every scenario sees the same fifty random seeds, the same weather realizations, the same demand shocks. That way, when scenario C outperforms scenario A, we know the difference is the policy rule and not stochastic luck. This is a small methodological choice but it is what gives the comparative results their teeth.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H1 says that under unregulated growth the basin collapses on a five to eight year timeline. That window is from the back-of-envelope balance between hyperscaler intake rates and basin recharge. H2 is the most interesting claim and the one where the ABM earns its keep: we expect a tipping point around forty percent storage, below which decline is no longer linear. That happens because cooling-tower efficiency depends on water availability, so stress feeds back into demand. A static water-balance equation cannot show you that. H3 says proactive caps, set from day one, will delay critical stress by at least forty percent compared to reactive caps or no policy at all. Each of these has a clean test, which is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so they do not all draw the same. Two farms, one rainfed and one irrigated, which gives us a non-DC consumer with very different demand seasonality. One hundred thousand residents, whose draw follows a temperature-modulated demand curve. A regulator that can issue caps but only sees the basin state with a configurable delay. And the basin itself, thirty billion liters of usable capacity with stochastic recharge from rainfall. One tick is one day, the model runs for ten years or until collapse, whichever comes first. The single most important mechanism is the cooling-stress positive feedback loop, which is what produces the nonlinear regime, and we will see it light up in the H2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700000" y="1500000"/>
            <a:ext cx="11933333" cy="300000"/>
          </a:xfrm>
          <a:prstGeom prst="rect">
            <a:avLst/>
          </a:prstGeom>
          <a:noFill/>
        </p:spPr>
        <p:txBody>
          <a:bodyPr wrap="square" lIns="0" rIns="0" tIns="0" bIns="0" anchor="t">
            <a:spAutoFit/>
          </a:bodyPr>
          <a:lstStyle/>
          <a:p>
            <a:pPr algn="l"/>
            <a:r>
              <a:rPr sz="1100" b="1" i="0">
                <a:solidFill>
                  <a:srgbClr val="7B2D26"/>
                </a:solidFill>
                <a:latin typeface="Helvetica Neue"/>
              </a:rPr>
              <a:t>CMSC 176, FINAL PROJECT</a:t>
            </a:r>
          </a:p>
        </p:txBody>
      </p:sp>
      <p:sp>
        <p:nvSpPr>
          <p:cNvPr id="3" name="TextBox 2"/>
          <p:cNvSpPr txBox="1"/>
          <p:nvPr/>
        </p:nvSpPr>
        <p:spPr>
          <a:xfrm>
            <a:off x="700000" y="1900000"/>
            <a:ext cx="11933333" cy="1600000"/>
          </a:xfrm>
          <a:prstGeom prst="rect">
            <a:avLst/>
          </a:prstGeom>
          <a:noFill/>
        </p:spPr>
        <p:txBody>
          <a:bodyPr wrap="square" lIns="0" rIns="0" tIns="0" bIns="0" anchor="t">
            <a:spAutoFit/>
          </a:bodyPr>
          <a:lstStyle/>
          <a:p>
            <a:pPr algn="l"/>
            <a:r>
              <a:rPr sz="5400" b="1" i="0">
                <a:solidFill>
                  <a:srgbClr val="1F1E1D"/>
                </a:solidFill>
                <a:latin typeface="Georgia"/>
              </a:rPr>
              <a:t>PARCHED: When AI Drinks</a:t>
            </a:r>
          </a:p>
          <a:p>
            <a:pPr algn="l"/>
            <a:r>
              <a:rPr sz="5400" b="1" i="0">
                <a:solidFill>
                  <a:srgbClr val="1F1E1D"/>
                </a:solidFill>
                <a:latin typeface="Georgia"/>
              </a:rPr>
              <a:t>Your Town Dry</a:t>
            </a:r>
          </a:p>
        </p:txBody>
      </p:sp>
      <p:sp>
        <p:nvSpPr>
          <p:cNvPr id="4" name="TextBox 3"/>
          <p:cNvSpPr txBox="1"/>
          <p:nvPr/>
        </p:nvSpPr>
        <p:spPr>
          <a:xfrm>
            <a:off x="700000" y="3850000"/>
            <a:ext cx="11933333" cy="600000"/>
          </a:xfrm>
          <a:prstGeom prst="rect">
            <a:avLst/>
          </a:prstGeom>
          <a:noFill/>
        </p:spPr>
        <p:txBody>
          <a:bodyPr wrap="square" lIns="0" rIns="0" tIns="0" bIns="0" anchor="t">
            <a:spAutoFit/>
          </a:bodyPr>
          <a:lstStyle/>
          <a:p>
            <a:pPr algn="l"/>
            <a:r>
              <a:rPr sz="2200" b="0" i="1">
                <a:solidFill>
                  <a:srgbClr val="605E5B"/>
                </a:solidFill>
                <a:latin typeface="Georgia"/>
              </a:rPr>
              <a:t>An Agent-Based Model of Hyperscaler Water Competition</a:t>
            </a:r>
          </a:p>
        </p:txBody>
      </p:sp>
      <p:sp>
        <p:nvSpPr>
          <p:cNvPr id="5" name="TextBox 4"/>
          <p:cNvSpPr txBox="1"/>
          <p:nvPr/>
        </p:nvSpPr>
        <p:spPr>
          <a:xfrm>
            <a:off x="700000" y="4900000"/>
            <a:ext cx="11933333" cy="420000"/>
          </a:xfrm>
          <a:prstGeom prst="rect">
            <a:avLst/>
          </a:prstGeom>
          <a:noFill/>
        </p:spPr>
        <p:txBody>
          <a:bodyPr wrap="square" lIns="0" rIns="0" tIns="0" bIns="0" anchor="t">
            <a:spAutoFit/>
          </a:bodyPr>
          <a:lstStyle/>
          <a:p>
            <a:pPr algn="l"/>
            <a:r>
              <a:rPr sz="1600" b="1" i="0">
                <a:solidFill>
                  <a:srgbClr val="1F1E1D"/>
                </a:solidFill>
                <a:latin typeface="Helvetica Neue"/>
              </a:rPr>
              <a:t>Sheldon Arthur Sagrado   /   Jed Edison Donaire</a:t>
            </a:r>
          </a:p>
        </p:txBody>
      </p:sp>
      <p:sp>
        <p:nvSpPr>
          <p:cNvPr id="6" name="TextBox 5"/>
          <p:cNvSpPr txBox="1"/>
          <p:nvPr/>
        </p:nvSpPr>
        <p:spPr>
          <a:xfrm>
            <a:off x="700000" y="530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smsagrado@up.edu.ph    jjdonaire@up.edu.ph</a:t>
            </a:r>
          </a:p>
        </p:txBody>
      </p:sp>
      <p:sp>
        <p:nvSpPr>
          <p:cNvPr id="7" name="TextBox 6"/>
          <p:cNvSpPr txBox="1"/>
          <p:nvPr/>
        </p:nvSpPr>
        <p:spPr>
          <a:xfrm>
            <a:off x="700000" y="5650000"/>
            <a:ext cx="11933333" cy="300000"/>
          </a:xfrm>
          <a:prstGeom prst="rect">
            <a:avLst/>
          </a:prstGeom>
          <a:noFill/>
        </p:spPr>
        <p:txBody>
          <a:bodyPr wrap="square" lIns="0" rIns="0" tIns="0" bIns="0" anchor="t">
            <a:spAutoFit/>
          </a:bodyPr>
          <a:lstStyle/>
          <a:p>
            <a:pPr algn="l"/>
            <a:r>
              <a:rPr sz="1000" b="0" i="1">
                <a:solidFill>
                  <a:srgbClr val="605E5B"/>
                </a:solidFill>
                <a:latin typeface="Helvetica Neue"/>
              </a:rPr>
              <a:t>Equal contribution.</a:t>
            </a:r>
          </a:p>
        </p:txBody>
      </p:sp>
      <p:sp>
        <p:nvSpPr>
          <p:cNvPr id="8" name="TextBox 7"/>
          <p:cNvSpPr txBox="1"/>
          <p:nvPr/>
        </p:nvSpPr>
        <p:spPr>
          <a:xfrm>
            <a:off x="700000" y="615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CMSC 176, AY 2025-2026, University of the Philippines Cebu</a:t>
            </a:r>
          </a:p>
        </p:txBody>
      </p:sp>
      <p:sp>
        <p:nvSpPr>
          <p:cNvPr id="9" name="TextBox 8"/>
          <p:cNvSpPr txBox="1"/>
          <p:nvPr/>
        </p:nvSpPr>
        <p:spPr>
          <a:xfrm>
            <a:off x="700000" y="6480000"/>
            <a:ext cx="11933333" cy="300000"/>
          </a:xfrm>
          <a:prstGeom prst="rect">
            <a:avLst/>
          </a:prstGeom>
          <a:noFill/>
        </p:spPr>
        <p:txBody>
          <a:bodyPr wrap="square" lIns="0" rIns="0" tIns="0" bIns="0" anchor="t">
            <a:spAutoFit/>
          </a:bodyPr>
          <a:lstStyle/>
          <a:p>
            <a:pPr algn="l"/>
            <a:r>
              <a:rPr sz="1100" b="0" i="0">
                <a:solidFill>
                  <a:srgbClr val="605E5B"/>
                </a:solidFill>
                <a:latin typeface="Helvetica Neue"/>
              </a:rPr>
              <a:t>May 2026</a:t>
            </a:r>
          </a:p>
        </p:txBody>
      </p:sp>
      <p:sp>
        <p:nvSpPr>
          <p:cNvPr id="10" name="TextBox 9"/>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1" name="TextBox 10"/>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The Hook</a:t>
            </a:r>
          </a:p>
        </p:txBody>
      </p:sp>
      <p:sp>
        <p:nvSpPr>
          <p:cNvPr id="4" name="TextBox 3"/>
          <p:cNvSpPr txBox="1"/>
          <p:nvPr/>
        </p:nvSpPr>
        <p:spPr>
          <a:xfrm>
            <a:off x="700000" y="2000000"/>
            <a:ext cx="11933333" cy="1500000"/>
          </a:xfrm>
          <a:prstGeom prst="rect">
            <a:avLst/>
          </a:prstGeom>
          <a:noFill/>
        </p:spPr>
        <p:txBody>
          <a:bodyPr wrap="square" lIns="0" rIns="0" tIns="0" bIns="0" anchor="t">
            <a:spAutoFit/>
          </a:bodyPr>
          <a:lstStyle/>
          <a:p>
            <a:pPr algn="l"/>
            <a:r>
              <a:rPr sz="7200" b="1" i="0">
                <a:solidFill>
                  <a:srgbClr val="7B2D26"/>
                </a:solidFill>
                <a:latin typeface="Georgia"/>
              </a:rPr>
              <a:t>3 to 5 million liters</a:t>
            </a:r>
          </a:p>
        </p:txBody>
      </p:sp>
      <p:sp>
        <p:nvSpPr>
          <p:cNvPr id="5" name="TextBox 4"/>
          <p:cNvSpPr txBox="1"/>
          <p:nvPr/>
        </p:nvSpPr>
        <p:spPr>
          <a:xfrm>
            <a:off x="700000" y="3500000"/>
            <a:ext cx="11933333" cy="500000"/>
          </a:xfrm>
          <a:prstGeom prst="rect">
            <a:avLst/>
          </a:prstGeom>
          <a:noFill/>
        </p:spPr>
        <p:txBody>
          <a:bodyPr wrap="square" lIns="0" rIns="0" tIns="0" bIns="0" anchor="t">
            <a:spAutoFit/>
          </a:bodyPr>
          <a:lstStyle/>
          <a:p>
            <a:pPr algn="l"/>
            <a:r>
              <a:rPr sz="2200" b="0" i="1">
                <a:solidFill>
                  <a:srgbClr val="1F1E1D"/>
                </a:solidFill>
                <a:latin typeface="Georgia"/>
              </a:rPr>
              <a:t>per day, per hyperscale data center.</a:t>
            </a:r>
          </a:p>
        </p:txBody>
      </p:sp>
      <p:sp>
        <p:nvSpPr>
          <p:cNvPr id="6" name="TextBox 5"/>
          <p:cNvSpPr txBox="1"/>
          <p:nvPr/>
        </p:nvSpPr>
        <p:spPr>
          <a:xfrm>
            <a:off x="700000" y="4700000"/>
            <a:ext cx="11933333" cy="700000"/>
          </a:xfrm>
          <a:prstGeom prst="rect">
            <a:avLst/>
          </a:prstGeom>
          <a:noFill/>
        </p:spPr>
        <p:txBody>
          <a:bodyPr wrap="square" lIns="0" rIns="0" tIns="0" bIns="0" anchor="t">
            <a:spAutoFit/>
          </a:bodyPr>
          <a:lstStyle/>
          <a:p>
            <a:pPr algn="l"/>
            <a:r>
              <a:rPr sz="2200" b="1" i="0">
                <a:solidFill>
                  <a:srgbClr val="1F1E1D"/>
                </a:solidFill>
                <a:latin typeface="Helvetica Neue"/>
              </a:rPr>
              <a:t>And nobody is modeling the basin-level collisions.</a:t>
            </a:r>
          </a:p>
        </p:txBody>
      </p:sp>
      <p:sp>
        <p:nvSpPr>
          <p:cNvPr id="7" name="TextBox 6"/>
          <p:cNvSpPr txBox="1"/>
          <p:nvPr/>
        </p:nvSpPr>
        <p:spPr>
          <a:xfrm>
            <a:off x="700000" y="5500000"/>
            <a:ext cx="11933333" cy="500000"/>
          </a:xfrm>
          <a:prstGeom prst="rect">
            <a:avLst/>
          </a:prstGeom>
          <a:noFill/>
        </p:spPr>
        <p:txBody>
          <a:bodyPr wrap="square" lIns="0" rIns="0" tIns="0" bIns="0" anchor="t">
            <a:spAutoFit/>
          </a:bodyPr>
          <a:lstStyle/>
          <a:p>
            <a:pPr algn="l"/>
            <a:r>
              <a:rPr sz="1000" b="0" i="0">
                <a:solidFill>
                  <a:srgbClr val="605E5B"/>
                </a:solidFill>
                <a:latin typeface="Helvetica Neue"/>
              </a:rPr>
              <a:t>Source: Li et al. (2023), "Making AI Less Thirsty."</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Problem and Research Question</a:t>
            </a:r>
          </a:p>
        </p:txBody>
      </p:sp>
      <p:sp>
        <p:nvSpPr>
          <p:cNvPr id="4" name="TextBox 3"/>
          <p:cNvSpPr txBox="1"/>
          <p:nvPr/>
        </p:nvSpPr>
        <p:spPr>
          <a:xfrm>
            <a:off x="7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SETUP</a:t>
            </a:r>
          </a:p>
        </p:txBody>
      </p:sp>
      <p:sp>
        <p:nvSpPr>
          <p:cNvPr id="5" name="TextBox 4"/>
          <p:cNvSpPr txBox="1"/>
          <p:nvPr/>
        </p:nvSpPr>
        <p:spPr>
          <a:xfrm>
            <a:off x="700000" y="2150000"/>
            <a:ext cx="5800000" cy="3800000"/>
          </a:xfrm>
          <a:prstGeom prst="rect">
            <a:avLst/>
          </a:prstGeom>
          <a:noFill/>
        </p:spPr>
        <p:txBody>
          <a:bodyPr wrap="square" lIns="0" rIns="0" tIns="0" bIns="0" anchor="t">
            <a:spAutoFit/>
          </a:bodyPr>
          <a:lstStyle/>
          <a:p>
            <a:pPr algn="l">
              <a:lnSpc>
                <a:spcPct val="145000"/>
              </a:lnSpc>
            </a:pPr>
            <a:r>
              <a:rPr sz="1600" b="1">
                <a:solidFill>
                  <a:srgbClr val="7B2D26"/>
                </a:solidFill>
                <a:latin typeface="Helvetica Neue"/>
              </a:rPr>
              <a:t>·  </a:t>
            </a:r>
            <a:r>
              <a:rPr sz="1600">
                <a:solidFill>
                  <a:srgbClr val="1F1E1D"/>
                </a:solidFill>
                <a:latin typeface="Helvetica Neue"/>
              </a:rPr>
              <a:t>One shared freshwater basin (30 BL capacity)</a:t>
            </a:r>
          </a:p>
          <a:p>
            <a:pPr algn="l">
              <a:lnSpc>
                <a:spcPct val="145000"/>
              </a:lnSpc>
            </a:pPr>
            <a:r>
              <a:rPr sz="1600" b="1">
                <a:solidFill>
                  <a:srgbClr val="7B2D26"/>
                </a:solidFill>
                <a:latin typeface="Helvetica Neue"/>
              </a:rPr>
              <a:t>·  </a:t>
            </a:r>
            <a:r>
              <a:rPr sz="1600">
                <a:solidFill>
                  <a:srgbClr val="1F1E1D"/>
                </a:solidFill>
                <a:latin typeface="Helvetica Neue"/>
              </a:rPr>
              <a:t>Multiple data centers competing for cooling water</a:t>
            </a:r>
          </a:p>
          <a:p>
            <a:pPr algn="l">
              <a:lnSpc>
                <a:spcPct val="145000"/>
              </a:lnSpc>
            </a:pPr>
            <a:r>
              <a:rPr sz="1600" b="1">
                <a:solidFill>
                  <a:srgbClr val="7B2D26"/>
                </a:solidFill>
                <a:latin typeface="Helvetica Neue"/>
              </a:rPr>
              <a:t>·  </a:t>
            </a:r>
            <a:r>
              <a:rPr sz="1600">
                <a:solidFill>
                  <a:srgbClr val="1F1E1D"/>
                </a:solidFill>
                <a:latin typeface="Helvetica Neue"/>
              </a:rPr>
              <a:t>Residential demand (~100k people)</a:t>
            </a:r>
          </a:p>
          <a:p>
            <a:pPr algn="l">
              <a:lnSpc>
                <a:spcPct val="145000"/>
              </a:lnSpc>
            </a:pPr>
            <a:r>
              <a:rPr sz="1600" b="1">
                <a:solidFill>
                  <a:srgbClr val="7B2D26"/>
                </a:solidFill>
                <a:latin typeface="Helvetica Neue"/>
              </a:rPr>
              <a:t>·  </a:t>
            </a:r>
            <a:r>
              <a:rPr sz="1600">
                <a:solidFill>
                  <a:srgbClr val="1F1E1D"/>
                </a:solidFill>
                <a:latin typeface="Helvetica Neue"/>
              </a:rPr>
              <a:t>Agriculture (rainfed and irrigated fields)</a:t>
            </a:r>
          </a:p>
          <a:p>
            <a:pPr algn="l">
              <a:lnSpc>
                <a:spcPct val="145000"/>
              </a:lnSpc>
            </a:pPr>
            <a:r>
              <a:rPr sz="1600" b="1">
                <a:solidFill>
                  <a:srgbClr val="7B2D26"/>
                </a:solidFill>
                <a:latin typeface="Helvetica Neue"/>
              </a:rPr>
              <a:t>·  </a:t>
            </a:r>
            <a:r>
              <a:rPr sz="1600">
                <a:solidFill>
                  <a:srgbClr val="1F1E1D"/>
                </a:solidFill>
                <a:latin typeface="Helvetica Neue"/>
              </a:rPr>
              <a:t>A regulator with delayed observability</a:t>
            </a:r>
          </a:p>
        </p:txBody>
      </p:sp>
      <p:sp>
        <p:nvSpPr>
          <p:cNvPr id="6" name="TextBox 5"/>
          <p:cNvSpPr txBox="1"/>
          <p:nvPr/>
        </p:nvSpPr>
        <p:spPr>
          <a:xfrm>
            <a:off x="70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QUESTION</a:t>
            </a:r>
          </a:p>
        </p:txBody>
      </p:sp>
      <p:sp>
        <p:nvSpPr>
          <p:cNvPr id="7" name="TextBox 6"/>
          <p:cNvSpPr txBox="1"/>
          <p:nvPr/>
        </p:nvSpPr>
        <p:spPr>
          <a:xfrm>
            <a:off x="7000000" y="2150000"/>
            <a:ext cx="5800000" cy="2200000"/>
          </a:xfrm>
          <a:prstGeom prst="rect">
            <a:avLst/>
          </a:prstGeom>
          <a:noFill/>
        </p:spPr>
        <p:txBody>
          <a:bodyPr wrap="square" lIns="0" rIns="0" tIns="0" bIns="0" anchor="t">
            <a:spAutoFit/>
          </a:bodyPr>
          <a:lstStyle/>
          <a:p>
            <a:pPr algn="l"/>
            <a:r>
              <a:rPr sz="2200" b="1" i="0">
                <a:solidFill>
                  <a:srgbClr val="1F1E1D"/>
                </a:solidFill>
                <a:latin typeface="Georgia"/>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400" b="0" i="1">
                <a:solidFill>
                  <a:srgbClr val="605E5B"/>
                </a:solidFill>
                <a:latin typeface="Helvetica Neue"/>
              </a:rPr>
              <a:t>No coordination. No shared meter. No price signal until things break.</a:t>
            </a:r>
          </a:p>
        </p:txBody>
      </p:sp>
      <p:sp>
        <p:nvSpPr>
          <p:cNvPr id="9" name="TextBox 8"/>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0" name="TextBox 9"/>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Objectives</a:t>
            </a:r>
          </a:p>
        </p:txBody>
      </p:sp>
      <p:sp>
        <p:nvSpPr>
          <p:cNvPr id="4" name="TextBox 3"/>
          <p:cNvSpPr txBox="1"/>
          <p:nvPr/>
        </p:nvSpPr>
        <p:spPr>
          <a:xfrm>
            <a:off x="700000" y="2100000"/>
            <a:ext cx="11933333" cy="3500000"/>
          </a:xfrm>
          <a:prstGeom prst="rect">
            <a:avLst/>
          </a:prstGeom>
          <a:noFill/>
        </p:spPr>
        <p:txBody>
          <a:bodyPr wrap="square" lIns="0" rIns="0" tIns="0" bIns="0" anchor="t">
            <a:spAutoFit/>
          </a:bodyPr>
          <a:lstStyle/>
          <a:p>
            <a:pPr algn="l">
              <a:lnSpc>
                <a:spcPct val="160000"/>
              </a:lnSpc>
            </a:pPr>
            <a:r>
              <a:rPr sz="2000" b="1">
                <a:solidFill>
                  <a:srgbClr val="7B2D26"/>
                </a:solidFill>
                <a:latin typeface="Helvetica Neue"/>
              </a:rPr>
              <a:t>·  </a:t>
            </a:r>
            <a:r>
              <a:rPr sz="2000">
                <a:solidFill>
                  <a:srgbClr val="1F1E1D"/>
                </a:solidFill>
                <a:latin typeface="Helvetica Neue"/>
              </a:rPr>
              <a:t>Build a calibrated agent-based model of basin-level water competition</a:t>
            </a:r>
          </a:p>
          <a:p>
            <a:pPr algn="l">
              <a:lnSpc>
                <a:spcPct val="160000"/>
              </a:lnSpc>
            </a:pPr>
            <a:r>
              <a:rPr sz="2000" b="1">
                <a:solidFill>
                  <a:srgbClr val="7B2D26"/>
                </a:solidFill>
                <a:latin typeface="Helvetica Neue"/>
              </a:rPr>
              <a:t>·  </a:t>
            </a:r>
            <a:r>
              <a:rPr sz="2000">
                <a:solidFill>
                  <a:srgbClr val="1F1E1D"/>
                </a:solidFill>
                <a:latin typeface="Helvetica Neue"/>
              </a:rPr>
              <a:t>Test three hypotheses about collapse timing, nonlinearity, and policy effect</a:t>
            </a:r>
          </a:p>
          <a:p>
            <a:pPr algn="l">
              <a:lnSpc>
                <a:spcPct val="160000"/>
              </a:lnSpc>
            </a:pPr>
            <a:r>
              <a:rPr sz="2000" b="1">
                <a:solidFill>
                  <a:srgbClr val="7B2D26"/>
                </a:solidFill>
                <a:latin typeface="Helvetica Neue"/>
              </a:rPr>
              <a:t>·  </a:t>
            </a:r>
            <a:r>
              <a:rPr sz="2000">
                <a:solidFill>
                  <a:srgbClr val="1F1E1D"/>
                </a:solidFill>
                <a:latin typeface="Helvetica Neue"/>
              </a:rPr>
              <a:t>Compare four policy scenarios under matched stochastic conditions</a:t>
            </a:r>
          </a:p>
        </p:txBody>
      </p:sp>
      <p:sp>
        <p:nvSpPr>
          <p:cNvPr id="5" name="TextBox 4"/>
          <p:cNvSpPr txBox="1"/>
          <p:nvPr/>
        </p:nvSpPr>
        <p:spPr>
          <a:xfrm>
            <a:off x="700000" y="5800000"/>
            <a:ext cx="11933333" cy="500000"/>
          </a:xfrm>
          <a:prstGeom prst="rect">
            <a:avLst/>
          </a:prstGeom>
          <a:noFill/>
        </p:spPr>
        <p:txBody>
          <a:bodyPr wrap="square" lIns="0" rIns="0" tIns="0" bIns="0" anchor="t">
            <a:spAutoFit/>
          </a:bodyPr>
          <a:lstStyle/>
          <a:p>
            <a:pPr algn="l"/>
            <a:r>
              <a:rPr sz="1800" b="1" i="1">
                <a:solidFill>
                  <a:srgbClr val="7B2D26"/>
                </a:solidFill>
                <a:latin typeface="Georgia"/>
              </a:rPr>
              <a:t>Same seeds, same shocks, different rules.</a:t>
            </a:r>
          </a:p>
        </p:txBody>
      </p:sp>
      <p:sp>
        <p:nvSpPr>
          <p:cNvPr id="6" name="TextBox 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7" name="TextBox 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Hypotheses</a:t>
            </a:r>
          </a:p>
        </p:txBody>
      </p:sp>
      <p:sp>
        <p:nvSpPr>
          <p:cNvPr id="4" name="TextBox 3"/>
          <p:cNvSpPr txBox="1"/>
          <p:nvPr/>
        </p:nvSpPr>
        <p:spPr>
          <a:xfrm>
            <a:off x="7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H1   COLLAPSE</a:t>
            </a:r>
          </a:p>
        </p:txBody>
      </p:sp>
      <p:sp>
        <p:nvSpPr>
          <p:cNvPr id="5" name="TextBox 4"/>
          <p:cNvSpPr txBox="1"/>
          <p:nvPr/>
        </p:nvSpPr>
        <p:spPr>
          <a:xfrm>
            <a:off x="7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Unregulated growth collapses the basin in 5 to 8 years.</a:t>
            </a:r>
          </a:p>
        </p:txBody>
      </p:sp>
      <p:sp>
        <p:nvSpPr>
          <p:cNvPr id="6" name="TextBox 5"/>
          <p:cNvSpPr txBox="1"/>
          <p:nvPr/>
        </p:nvSpPr>
        <p:spPr>
          <a:xfrm>
            <a:off x="7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Critical-stress crossing under no policy, across 50 replicate runs.</a:t>
            </a:r>
          </a:p>
        </p:txBody>
      </p:sp>
      <p:sp>
        <p:nvSpPr>
          <p:cNvPr id="7" name="TextBox 6"/>
          <p:cNvSpPr txBox="1"/>
          <p:nvPr/>
        </p:nvSpPr>
        <p:spPr>
          <a:xfrm>
            <a:off x="485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H2   TIPPING POINT</a:t>
            </a:r>
          </a:p>
        </p:txBody>
      </p:sp>
      <p:sp>
        <p:nvSpPr>
          <p:cNvPr id="8" name="TextBox 7"/>
          <p:cNvSpPr txBox="1"/>
          <p:nvPr/>
        </p:nvSpPr>
        <p:spPr>
          <a:xfrm>
            <a:off x="485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Decline becomes nonlinear once basin storage drops below 40%.</a:t>
            </a:r>
          </a:p>
        </p:txBody>
      </p:sp>
      <p:sp>
        <p:nvSpPr>
          <p:cNvPr id="9" name="TextBox 8"/>
          <p:cNvSpPr txBox="1"/>
          <p:nvPr/>
        </p:nvSpPr>
        <p:spPr>
          <a:xfrm>
            <a:off x="485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Cooling-stress positive feedback amplifies withdrawals as headroom shrinks.</a:t>
            </a:r>
          </a:p>
        </p:txBody>
      </p:sp>
      <p:sp>
        <p:nvSpPr>
          <p:cNvPr id="10" name="TextBox 9"/>
          <p:cNvSpPr txBox="1"/>
          <p:nvPr/>
        </p:nvSpPr>
        <p:spPr>
          <a:xfrm>
            <a:off x="90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H3   POLICY</a:t>
            </a:r>
          </a:p>
        </p:txBody>
      </p:sp>
      <p:sp>
        <p:nvSpPr>
          <p:cNvPr id="11" name="TextBox 10"/>
          <p:cNvSpPr txBox="1"/>
          <p:nvPr/>
        </p:nvSpPr>
        <p:spPr>
          <a:xfrm>
            <a:off x="90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Proactive caps delay critical stress by 40% or more.</a:t>
            </a:r>
          </a:p>
        </p:txBody>
      </p:sp>
      <p:sp>
        <p:nvSpPr>
          <p:cNvPr id="12" name="TextBox 11"/>
          <p:cNvSpPr txBox="1"/>
          <p:nvPr/>
        </p:nvSpPr>
        <p:spPr>
          <a:xfrm>
            <a:off x="90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Reactive caps and staggered entry do not, once measured against matched seeds.</a:t>
            </a:r>
          </a:p>
        </p:txBody>
      </p:sp>
      <p:sp>
        <p:nvSpPr>
          <p:cNvPr id="13" name="TextBox 12"/>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4" name="TextBox 13"/>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Model Overview</a:t>
            </a:r>
          </a:p>
        </p:txBody>
      </p:sp>
      <p:sp>
        <p:nvSpPr>
          <p:cNvPr id="4" name="TextBox 3"/>
          <p:cNvSpPr txBox="1"/>
          <p:nvPr/>
        </p:nvSpPr>
        <p:spPr>
          <a:xfrm>
            <a:off x="700000" y="1800000"/>
            <a:ext cx="5400000" cy="4500000"/>
          </a:xfrm>
          <a:prstGeom prst="rect">
            <a:avLst/>
          </a:prstGeom>
          <a:noFill/>
        </p:spPr>
        <p:txBody>
          <a:bodyPr wrap="square" lIns="0" rIns="0" tIns="0" bIns="0" anchor="t">
            <a:spAutoFit/>
          </a:bodyPr>
          <a:lstStyle/>
          <a:p>
            <a:pPr algn="l">
              <a:lnSpc>
                <a:spcPct val="145000"/>
              </a:lnSpc>
            </a:pPr>
            <a:r>
              <a:rPr sz="1500" b="1">
                <a:solidFill>
                  <a:srgbClr val="7B2D26"/>
                </a:solidFill>
                <a:latin typeface="Helvetica Neue"/>
              </a:rPr>
              <a:t>·  </a:t>
            </a:r>
            <a:r>
              <a:rPr sz="1500">
                <a:solidFill>
                  <a:srgbClr val="1F1E1D"/>
                </a:solidFill>
                <a:latin typeface="Helvetica Neue"/>
              </a:rPr>
              <a:t>4 data centers (heterogeneous capacity)</a:t>
            </a:r>
          </a:p>
          <a:p>
            <a:pPr algn="l">
              <a:lnSpc>
                <a:spcPct val="145000"/>
              </a:lnSpc>
            </a:pPr>
            <a:r>
              <a:rPr sz="1500" b="1">
                <a:solidFill>
                  <a:srgbClr val="7B2D26"/>
                </a:solidFill>
                <a:latin typeface="Helvetica Neue"/>
              </a:rPr>
              <a:t>·  </a:t>
            </a:r>
            <a:r>
              <a:rPr sz="1500">
                <a:solidFill>
                  <a:srgbClr val="1F1E1D"/>
                </a:solidFill>
                <a:latin typeface="Helvetica Neue"/>
              </a:rPr>
              <a:t>2 farms (rainfed and irrigated)</a:t>
            </a:r>
          </a:p>
          <a:p>
            <a:pPr algn="l">
              <a:lnSpc>
                <a:spcPct val="145000"/>
              </a:lnSpc>
            </a:pPr>
            <a:r>
              <a:rPr sz="1500" b="1">
                <a:solidFill>
                  <a:srgbClr val="7B2D26"/>
                </a:solidFill>
                <a:latin typeface="Helvetica Neue"/>
              </a:rPr>
              <a:t>·  </a:t>
            </a:r>
            <a:r>
              <a:rPr sz="1500">
                <a:solidFill>
                  <a:srgbClr val="1F1E1D"/>
                </a:solidFill>
                <a:latin typeface="Helvetica Neue"/>
              </a:rPr>
              <a:t>100k residents (consumption from demand curve)</a:t>
            </a:r>
          </a:p>
          <a:p>
            <a:pPr algn="l">
              <a:lnSpc>
                <a:spcPct val="145000"/>
              </a:lnSpc>
            </a:pPr>
            <a:r>
              <a:rPr sz="1500" b="1">
                <a:solidFill>
                  <a:srgbClr val="7B2D26"/>
                </a:solidFill>
                <a:latin typeface="Helvetica Neue"/>
              </a:rPr>
              <a:t>·  </a:t>
            </a:r>
            <a:r>
              <a:rPr sz="1500">
                <a:solidFill>
                  <a:srgbClr val="1F1E1D"/>
                </a:solidFill>
                <a:latin typeface="Helvetica Neue"/>
              </a:rPr>
              <a:t>1 regulator (delayed observability)</a:t>
            </a:r>
          </a:p>
          <a:p>
            <a:pPr algn="l">
              <a:lnSpc>
                <a:spcPct val="145000"/>
              </a:lnSpc>
            </a:pPr>
            <a:r>
              <a:rPr sz="1500" b="1">
                <a:solidFill>
                  <a:srgbClr val="7B2D26"/>
                </a:solidFill>
                <a:latin typeface="Helvetica Neue"/>
              </a:rPr>
              <a:t>·  </a:t>
            </a:r>
            <a:r>
              <a:rPr sz="1500">
                <a:solidFill>
                  <a:srgbClr val="1F1E1D"/>
                </a:solidFill>
                <a:latin typeface="Helvetica Neue"/>
              </a:rPr>
              <a:t>30 BL shared basin, with stochastic recharge</a:t>
            </a:r>
          </a:p>
          <a:p>
            <a:pPr algn="l">
              <a:lnSpc>
                <a:spcPct val="145000"/>
              </a:lnSpc>
            </a:pPr>
            <a:r>
              <a:rPr sz="1500" b="1">
                <a:solidFill>
                  <a:srgbClr val="7B2D26"/>
                </a:solidFill>
                <a:latin typeface="Helvetica Neue"/>
              </a:rPr>
              <a:t>·  </a:t>
            </a:r>
            <a:r>
              <a:rPr sz="1500">
                <a:solidFill>
                  <a:srgbClr val="1F1E1D"/>
                </a:solidFill>
                <a:latin typeface="Helvetica Neue"/>
              </a:rPr>
              <a:t>All interactions mediated through the basin</a:t>
            </a:r>
          </a:p>
        </p:txBody>
      </p:sp>
      <p:sp>
        <p:nvSpPr>
          <p:cNvPr id="5" name="TextBox 4"/>
          <p:cNvSpPr txBox="1"/>
          <p:nvPr/>
        </p:nvSpPr>
        <p:spPr>
          <a:xfrm>
            <a:off x="700000" y="6000000"/>
            <a:ext cx="5400000" cy="400000"/>
          </a:xfrm>
          <a:prstGeom prst="rect">
            <a:avLst/>
          </a:prstGeom>
          <a:noFill/>
        </p:spPr>
        <p:txBody>
          <a:bodyPr wrap="square" lIns="0" rIns="0" tIns="0" bIns="0" anchor="t">
            <a:spAutoFit/>
          </a:bodyPr>
          <a:lstStyle/>
          <a:p>
            <a:pPr algn="l"/>
            <a:r>
              <a:rPr sz="1100" b="1" i="0">
                <a:solidFill>
                  <a:srgbClr val="7B2D26"/>
                </a:solidFill>
                <a:latin typeface="Helvetica Neue"/>
              </a:rPr>
              <a:t>1 tick = 1 day   /   10-year horizon   /   stop on collapse</a:t>
            </a:r>
          </a:p>
        </p:txBody>
      </p:sp>
      <p:pic>
        <p:nvPicPr>
          <p:cNvPr id="6" name="Picture 5" descr="fig_simulation_screenshot.png"/>
          <p:cNvPicPr>
            <a:picLocks noChangeAspect="1"/>
          </p:cNvPicPr>
          <p:nvPr/>
        </p:nvPicPr>
        <p:blipFill>
          <a:blip r:embed="rId2"/>
          <a:stretch>
            <a:fillRect/>
          </a:stretch>
        </p:blipFill>
        <p:spPr>
          <a:xfrm>
            <a:off x="6433333" y="2250759"/>
            <a:ext cx="6200000" cy="3798481"/>
          </a:xfrm>
          <a:prstGeom prst="rect">
            <a:avLst/>
          </a:prstGeom>
        </p:spPr>
      </p:pic>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Parameters and Scenarios</a:t>
            </a:r>
          </a:p>
        </p:txBody>
      </p:sp>
      <p:sp>
        <p:nvSpPr>
          <p:cNvPr id="4" name="TextBox 3"/>
          <p:cNvSpPr txBox="1"/>
          <p:nvPr/>
        </p:nvSpPr>
        <p:spPr>
          <a:xfrm>
            <a:off x="700000" y="1900000"/>
            <a:ext cx="550000" cy="550000"/>
          </a:xfrm>
          <a:prstGeom prst="rect">
            <a:avLst/>
          </a:prstGeom>
          <a:noFill/>
        </p:spPr>
        <p:txBody>
          <a:bodyPr wrap="square" lIns="0" rIns="0" tIns="0" bIns="0" anchor="t">
            <a:spAutoFit/>
          </a:bodyPr>
          <a:lstStyle/>
          <a:p>
            <a:pPr algn="l"/>
            <a:r>
              <a:rPr sz="2800" b="1" i="0">
                <a:solidFill>
                  <a:srgbClr val="7B2D26"/>
                </a:solidFill>
                <a:latin typeface="Georgia"/>
              </a:rPr>
              <a:t>A</a:t>
            </a:r>
          </a:p>
        </p:txBody>
      </p:sp>
      <p:sp>
        <p:nvSpPr>
          <p:cNvPr id="5" name="TextBox 4"/>
          <p:cNvSpPr txBox="1"/>
          <p:nvPr/>
        </p:nvSpPr>
        <p:spPr>
          <a:xfrm>
            <a:off x="1500000" y="1960000"/>
            <a:ext cx="3000000" cy="500000"/>
          </a:xfrm>
          <a:prstGeom prst="rect">
            <a:avLst/>
          </a:prstGeom>
          <a:noFill/>
        </p:spPr>
        <p:txBody>
          <a:bodyPr wrap="square" lIns="0" rIns="0" tIns="0" bIns="0" anchor="t">
            <a:spAutoFit/>
          </a:bodyPr>
          <a:lstStyle/>
          <a:p>
            <a:pPr algn="l"/>
            <a:r>
              <a:rPr sz="2000" b="1" i="0">
                <a:solidFill>
                  <a:srgbClr val="1F1E1D"/>
                </a:solidFill>
                <a:latin typeface="Georgia"/>
              </a:rPr>
              <a:t>Unregulated</a:t>
            </a:r>
          </a:p>
        </p:txBody>
      </p:sp>
      <p:sp>
        <p:nvSpPr>
          <p:cNvPr id="6" name="TextBox 5"/>
          <p:cNvSpPr txBox="1"/>
          <p:nvPr/>
        </p:nvSpPr>
        <p:spPr>
          <a:xfrm>
            <a:off x="4700000" y="199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No cap, no oversight.</a:t>
            </a:r>
          </a:p>
        </p:txBody>
      </p:sp>
      <p:sp>
        <p:nvSpPr>
          <p:cNvPr id="7" name="TextBox 6"/>
          <p:cNvSpPr txBox="1"/>
          <p:nvPr/>
        </p:nvSpPr>
        <p:spPr>
          <a:xfrm>
            <a:off x="700000" y="2620000"/>
            <a:ext cx="550000" cy="550000"/>
          </a:xfrm>
          <a:prstGeom prst="rect">
            <a:avLst/>
          </a:prstGeom>
          <a:noFill/>
        </p:spPr>
        <p:txBody>
          <a:bodyPr wrap="square" lIns="0" rIns="0" tIns="0" bIns="0" anchor="t">
            <a:spAutoFit/>
          </a:bodyPr>
          <a:lstStyle/>
          <a:p>
            <a:pPr algn="l"/>
            <a:r>
              <a:rPr sz="2800" b="1" i="0">
                <a:solidFill>
                  <a:srgbClr val="7B2D26"/>
                </a:solidFill>
                <a:latin typeface="Georgia"/>
              </a:rPr>
              <a:t>B</a:t>
            </a:r>
          </a:p>
        </p:txBody>
      </p:sp>
      <p:sp>
        <p:nvSpPr>
          <p:cNvPr id="8" name="TextBox 7"/>
          <p:cNvSpPr txBox="1"/>
          <p:nvPr/>
        </p:nvSpPr>
        <p:spPr>
          <a:xfrm>
            <a:off x="1500000" y="2680000"/>
            <a:ext cx="3000000" cy="500000"/>
          </a:xfrm>
          <a:prstGeom prst="rect">
            <a:avLst/>
          </a:prstGeom>
          <a:noFill/>
        </p:spPr>
        <p:txBody>
          <a:bodyPr wrap="square" lIns="0" rIns="0" tIns="0" bIns="0" anchor="t">
            <a:spAutoFit/>
          </a:bodyPr>
          <a:lstStyle/>
          <a:p>
            <a:pPr algn="l"/>
            <a:r>
              <a:rPr sz="2000" b="1" i="0">
                <a:solidFill>
                  <a:srgbClr val="1F1E1D"/>
                </a:solidFill>
                <a:latin typeface="Georgia"/>
              </a:rPr>
              <a:t>Reactive cap</a:t>
            </a:r>
          </a:p>
        </p:txBody>
      </p:sp>
      <p:sp>
        <p:nvSpPr>
          <p:cNvPr id="9" name="TextBox 8"/>
          <p:cNvSpPr txBox="1"/>
          <p:nvPr/>
        </p:nvSpPr>
        <p:spPr>
          <a:xfrm>
            <a:off x="4700000" y="271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Cap triggers at 30% basin storage.</a:t>
            </a:r>
          </a:p>
        </p:txBody>
      </p:sp>
      <p:sp>
        <p:nvSpPr>
          <p:cNvPr id="10" name="TextBox 9"/>
          <p:cNvSpPr txBox="1"/>
          <p:nvPr/>
        </p:nvSpPr>
        <p:spPr>
          <a:xfrm>
            <a:off x="700000" y="3340000"/>
            <a:ext cx="550000" cy="550000"/>
          </a:xfrm>
          <a:prstGeom prst="rect">
            <a:avLst/>
          </a:prstGeom>
          <a:noFill/>
        </p:spPr>
        <p:txBody>
          <a:bodyPr wrap="square" lIns="0" rIns="0" tIns="0" bIns="0" anchor="t">
            <a:spAutoFit/>
          </a:bodyPr>
          <a:lstStyle/>
          <a:p>
            <a:pPr algn="l"/>
            <a:r>
              <a:rPr sz="2800" b="1" i="0">
                <a:solidFill>
                  <a:srgbClr val="7B2D26"/>
                </a:solidFill>
                <a:latin typeface="Georgia"/>
              </a:rPr>
              <a:t>C</a:t>
            </a:r>
          </a:p>
        </p:txBody>
      </p:sp>
      <p:sp>
        <p:nvSpPr>
          <p:cNvPr id="11" name="TextBox 10"/>
          <p:cNvSpPr txBox="1"/>
          <p:nvPr/>
        </p:nvSpPr>
        <p:spPr>
          <a:xfrm>
            <a:off x="1500000" y="3400000"/>
            <a:ext cx="3000000" cy="500000"/>
          </a:xfrm>
          <a:prstGeom prst="rect">
            <a:avLst/>
          </a:prstGeom>
          <a:noFill/>
        </p:spPr>
        <p:txBody>
          <a:bodyPr wrap="square" lIns="0" rIns="0" tIns="0" bIns="0" anchor="t">
            <a:spAutoFit/>
          </a:bodyPr>
          <a:lstStyle/>
          <a:p>
            <a:pPr algn="l"/>
            <a:r>
              <a:rPr sz="2000" b="1" i="0">
                <a:solidFill>
                  <a:srgbClr val="1F1E1D"/>
                </a:solidFill>
                <a:latin typeface="Georgia"/>
              </a:rPr>
              <a:t>Proactive cap</a:t>
            </a:r>
          </a:p>
        </p:txBody>
      </p:sp>
      <p:sp>
        <p:nvSpPr>
          <p:cNvPr id="12" name="TextBox 11"/>
          <p:cNvSpPr txBox="1"/>
          <p:nvPr/>
        </p:nvSpPr>
        <p:spPr>
          <a:xfrm>
            <a:off x="4700000" y="343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15 ML/day from t=0.</a:t>
            </a:r>
          </a:p>
        </p:txBody>
      </p:sp>
      <p:sp>
        <p:nvSpPr>
          <p:cNvPr id="13" name="TextBox 12"/>
          <p:cNvSpPr txBox="1"/>
          <p:nvPr/>
        </p:nvSpPr>
        <p:spPr>
          <a:xfrm>
            <a:off x="700000" y="4060000"/>
            <a:ext cx="550000" cy="550000"/>
          </a:xfrm>
          <a:prstGeom prst="rect">
            <a:avLst/>
          </a:prstGeom>
          <a:noFill/>
        </p:spPr>
        <p:txBody>
          <a:bodyPr wrap="square" lIns="0" rIns="0" tIns="0" bIns="0" anchor="t">
            <a:spAutoFit/>
          </a:bodyPr>
          <a:lstStyle/>
          <a:p>
            <a:pPr algn="l"/>
            <a:r>
              <a:rPr sz="2800" b="1" i="0">
                <a:solidFill>
                  <a:srgbClr val="7B2D26"/>
                </a:solidFill>
                <a:latin typeface="Georgia"/>
              </a:rPr>
              <a:t>D</a:t>
            </a:r>
          </a:p>
        </p:txBody>
      </p:sp>
      <p:sp>
        <p:nvSpPr>
          <p:cNvPr id="14" name="TextBox 13"/>
          <p:cNvSpPr txBox="1"/>
          <p:nvPr/>
        </p:nvSpPr>
        <p:spPr>
          <a:xfrm>
            <a:off x="1500000" y="4120000"/>
            <a:ext cx="3000000" cy="500000"/>
          </a:xfrm>
          <a:prstGeom prst="rect">
            <a:avLst/>
          </a:prstGeom>
          <a:noFill/>
        </p:spPr>
        <p:txBody>
          <a:bodyPr wrap="square" lIns="0" rIns="0" tIns="0" bIns="0" anchor="t">
            <a:spAutoFit/>
          </a:bodyPr>
          <a:lstStyle/>
          <a:p>
            <a:pPr algn="l"/>
            <a:r>
              <a:rPr sz="2000" b="1" i="0">
                <a:solidFill>
                  <a:srgbClr val="1F1E1D"/>
                </a:solidFill>
                <a:latin typeface="Georgia"/>
              </a:rPr>
              <a:t>Staggered entry</a:t>
            </a:r>
          </a:p>
        </p:txBody>
      </p:sp>
      <p:sp>
        <p:nvSpPr>
          <p:cNvPr id="15" name="TextBox 14"/>
          <p:cNvSpPr txBox="1"/>
          <p:nvPr/>
        </p:nvSpPr>
        <p:spPr>
          <a:xfrm>
            <a:off x="4700000" y="415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DCs come online in years 0, 2, 4, 6.</a:t>
            </a:r>
          </a:p>
        </p:txBody>
      </p:sp>
      <p:sp>
        <p:nvSpPr>
          <p:cNvPr id="16" name="TextBox 15"/>
          <p:cNvSpPr txBox="1"/>
          <p:nvPr/>
        </p:nvSpPr>
        <p:spPr>
          <a:xfrm>
            <a:off x="700000" y="5900000"/>
            <a:ext cx="11933333" cy="900000"/>
          </a:xfrm>
          <a:prstGeom prst="rect">
            <a:avLst/>
          </a:prstGeom>
          <a:noFill/>
        </p:spPr>
        <p:txBody>
          <a:bodyPr wrap="square" lIns="0" rIns="0" tIns="0" bIns="0" anchor="t">
            <a:spAutoFit/>
          </a:bodyPr>
          <a:lstStyle/>
          <a:p>
            <a:pPr algn="l"/>
            <a:r>
              <a:rPr sz="1400" b="0" i="1">
                <a:solidFill>
                  <a:srgbClr val="7B2D26"/>
                </a:solidFill>
                <a:latin typeface="Georgia"/>
              </a:rPr>
              <a:t>Matched-seed design: every scenario sees the same 50 random seeds, so differences are policy, not luck.</a:t>
            </a:r>
          </a:p>
        </p:txBody>
      </p:sp>
      <p:sp>
        <p:nvSpPr>
          <p:cNvPr id="17" name="TextBox 1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8" name="TextBox 1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How To Read The Simulation</a:t>
            </a:r>
          </a:p>
        </p:txBody>
      </p:sp>
      <p:pic>
        <p:nvPicPr>
          <p:cNvPr id="4" name="Picture 3" descr="fig_basin_timeseries.png"/>
          <p:cNvPicPr>
            <a:picLocks noChangeAspect="1"/>
          </p:cNvPicPr>
          <p:nvPr/>
        </p:nvPicPr>
        <p:blipFill>
          <a:blip r:embed="rId2"/>
          <a:stretch>
            <a:fillRect/>
          </a:stretch>
        </p:blipFill>
        <p:spPr>
          <a:xfrm>
            <a:off x="700000" y="1750000"/>
            <a:ext cx="7573588" cy="4600000"/>
          </a:xfrm>
          <a:prstGeom prst="rect">
            <a:avLst/>
          </a:prstGeom>
        </p:spPr>
      </p:pic>
      <p:sp>
        <p:nvSpPr>
          <p:cNvPr id="5" name="TextBox 4"/>
          <p:cNvSpPr txBox="1"/>
          <p:nvPr/>
        </p:nvSpPr>
        <p:spPr>
          <a:xfrm>
            <a:off x="9300000" y="1800000"/>
            <a:ext cx="3500000" cy="400000"/>
          </a:xfrm>
          <a:prstGeom prst="rect">
            <a:avLst/>
          </a:prstGeom>
          <a:noFill/>
        </p:spPr>
        <p:txBody>
          <a:bodyPr wrap="square" lIns="0" rIns="0" tIns="0" bIns="0" anchor="t">
            <a:spAutoFit/>
          </a:bodyPr>
          <a:lstStyle/>
          <a:p>
            <a:pPr algn="l"/>
            <a:r>
              <a:rPr sz="1100" b="1" i="0">
                <a:solidFill>
                  <a:srgbClr val="7B2D26"/>
                </a:solidFill>
                <a:latin typeface="Helvetica Neue"/>
              </a:rPr>
              <a:t>WHAT TO SEE</a:t>
            </a:r>
          </a:p>
        </p:txBody>
      </p:sp>
      <p:sp>
        <p:nvSpPr>
          <p:cNvPr id="6" name="TextBox 5"/>
          <p:cNvSpPr txBox="1"/>
          <p:nvPr/>
        </p:nvSpPr>
        <p:spPr>
          <a:xfrm>
            <a:off x="9300000" y="22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A and B</a:t>
            </a:r>
          </a:p>
        </p:txBody>
      </p:sp>
      <p:sp>
        <p:nvSpPr>
          <p:cNvPr id="7" name="TextBox 6"/>
          <p:cNvSpPr txBox="1"/>
          <p:nvPr/>
        </p:nvSpPr>
        <p:spPr>
          <a:xfrm>
            <a:off x="9300000" y="26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Identical trajectory. Reactive cap fires after the cliff.</a:t>
            </a:r>
          </a:p>
        </p:txBody>
      </p:sp>
      <p:sp>
        <p:nvSpPr>
          <p:cNvPr id="8" name="TextBox 7"/>
          <p:cNvSpPr txBox="1"/>
          <p:nvPr/>
        </p:nvSpPr>
        <p:spPr>
          <a:xfrm>
            <a:off x="9300000" y="35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C</a:t>
            </a:r>
          </a:p>
        </p:txBody>
      </p:sp>
      <p:sp>
        <p:nvSpPr>
          <p:cNvPr id="9" name="TextBox 8"/>
          <p:cNvSpPr txBox="1"/>
          <p:nvPr/>
        </p:nvSpPr>
        <p:spPr>
          <a:xfrm>
            <a:off x="9300000" y="39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Holds above 90% for the entire decade.</a:t>
            </a:r>
          </a:p>
        </p:txBody>
      </p:sp>
      <p:sp>
        <p:nvSpPr>
          <p:cNvPr id="10" name="TextBox 9"/>
          <p:cNvSpPr txBox="1"/>
          <p:nvPr/>
        </p:nvSpPr>
        <p:spPr>
          <a:xfrm>
            <a:off x="9300000" y="48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D</a:t>
            </a:r>
          </a:p>
        </p:txBody>
      </p:sp>
      <p:sp>
        <p:nvSpPr>
          <p:cNvPr id="11" name="TextBox 10"/>
          <p:cNvSpPr txBox="1"/>
          <p:nvPr/>
        </p:nvSpPr>
        <p:spPr>
          <a:xfrm>
            <a:off x="9300000" y="52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Delays the collapse but the endpoint is unchanged.</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H1: Collapse Timing</a:t>
            </a:r>
          </a:p>
        </p:txBody>
      </p:sp>
      <p:pic>
        <p:nvPicPr>
          <p:cNvPr id="4" name="Picture 3" descr="fig_time_to_stress.png"/>
          <p:cNvPicPr>
            <a:picLocks noChangeAspect="1"/>
          </p:cNvPicPr>
          <p:nvPr/>
        </p:nvPicPr>
        <p:blipFill>
          <a:blip r:embed="rId2"/>
          <a:stretch>
            <a:fillRect/>
          </a:stretch>
        </p:blipFill>
        <p:spPr>
          <a:xfrm>
            <a:off x="700000" y="1750000"/>
            <a:ext cx="6942930" cy="490000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RESULT</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100%</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600" b="0" i="1">
                <a:solidFill>
                  <a:srgbClr val="1F1E1D"/>
                </a:solidFill>
                <a:latin typeface="Georgia"/>
              </a:rPr>
              <a:t>of unregulated runs collapsed.</a:t>
            </a:r>
          </a:p>
        </p:txBody>
      </p:sp>
      <p:sp>
        <p:nvSpPr>
          <p:cNvPr id="8" name="TextBox 7"/>
          <p:cNvSpPr txBox="1"/>
          <p:nvPr/>
        </p:nvSpPr>
        <p:spPr>
          <a:xfrm>
            <a:off x="8800000" y="4500000"/>
            <a:ext cx="4100000" cy="450000"/>
          </a:xfrm>
          <a:prstGeom prst="rect">
            <a:avLst/>
          </a:prstGeom>
          <a:noFill/>
        </p:spPr>
        <p:txBody>
          <a:bodyPr wrap="square" lIns="0" rIns="0" tIns="0" bIns="0" anchor="t">
            <a:spAutoFit/>
          </a:bodyPr>
          <a:lstStyle/>
          <a:p>
            <a:pPr algn="l"/>
            <a:r>
              <a:rPr sz="1800" b="1" i="0">
                <a:solidFill>
                  <a:srgbClr val="1F1E1D"/>
                </a:solidFill>
                <a:latin typeface="Helvetica Neue"/>
              </a:rPr>
              <a:t>Mean: 6.07 ± 0.84 years</a:t>
            </a:r>
          </a:p>
        </p:txBody>
      </p:sp>
      <p:sp>
        <p:nvSpPr>
          <p:cNvPr id="9" name="TextBox 8"/>
          <p:cNvSpPr txBox="1"/>
          <p:nvPr/>
        </p:nvSpPr>
        <p:spPr>
          <a:xfrm>
            <a:off x="8800000" y="500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10⁻²¹</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100" b="0" i="0">
                <a:solidFill>
                  <a:srgbClr val="605E5B"/>
                </a:solidFill>
                <a:latin typeface="Helvetica Neue"/>
              </a:rPr>
              <a:t>n = 50 replicate runs</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H2: Tipping Point</a:t>
            </a:r>
          </a:p>
        </p:txBody>
      </p:sp>
      <p:pic>
        <p:nvPicPr>
          <p:cNvPr id="4" name="Picture 3" descr="fig_tipping_point.png"/>
          <p:cNvPicPr>
            <a:picLocks noChangeAspect="1"/>
          </p:cNvPicPr>
          <p:nvPr/>
        </p:nvPicPr>
        <p:blipFill>
          <a:blip r:embed="rId2"/>
          <a:stretch>
            <a:fillRect/>
          </a:stretch>
        </p:blipFill>
        <p:spPr>
          <a:xfrm>
            <a:off x="700000" y="1750000"/>
            <a:ext cx="7600000" cy="425292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ACCELERATION</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9.25×</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400" b="0" i="1">
                <a:solidFill>
                  <a:srgbClr val="1F1E1D"/>
                </a:solidFill>
                <a:latin typeface="Georgia"/>
              </a:rPr>
              <a:t>decline rate after the 40% threshold.</a:t>
            </a:r>
          </a:p>
        </p:txBody>
      </p:sp>
      <p:sp>
        <p:nvSpPr>
          <p:cNvPr id="8" name="TextBox 7"/>
          <p:cNvSpPr txBox="1"/>
          <p:nvPr/>
        </p:nvSpPr>
        <p:spPr>
          <a:xfrm>
            <a:off x="8800000" y="4400000"/>
            <a:ext cx="4100000" cy="400000"/>
          </a:xfrm>
          <a:prstGeom prst="rect">
            <a:avLst/>
          </a:prstGeom>
          <a:noFill/>
        </p:spPr>
        <p:txBody>
          <a:bodyPr wrap="square" lIns="0" rIns="0" tIns="0" bIns="0" anchor="t">
            <a:spAutoFit/>
          </a:bodyPr>
          <a:lstStyle/>
          <a:p>
            <a:pPr algn="l"/>
            <a:r>
              <a:rPr sz="1500" b="0" i="0">
                <a:solidFill>
                  <a:srgbClr val="605E5B"/>
                </a:solidFill>
                <a:latin typeface="Helvetica Neue"/>
              </a:rPr>
              <a:t>Pre-tipping: 0.07 / yr</a:t>
            </a:r>
          </a:p>
        </p:txBody>
      </p:sp>
      <p:sp>
        <p:nvSpPr>
          <p:cNvPr id="9" name="TextBox 8"/>
          <p:cNvSpPr txBox="1"/>
          <p:nvPr/>
        </p:nvSpPr>
        <p:spPr>
          <a:xfrm>
            <a:off x="8800000" y="4850000"/>
            <a:ext cx="4100000" cy="400000"/>
          </a:xfrm>
          <a:prstGeom prst="rect">
            <a:avLst/>
          </a:prstGeom>
          <a:noFill/>
        </p:spPr>
        <p:txBody>
          <a:bodyPr wrap="square" lIns="0" rIns="0" tIns="0" bIns="0" anchor="t">
            <a:spAutoFit/>
          </a:bodyPr>
          <a:lstStyle/>
          <a:p>
            <a:pPr algn="l"/>
            <a:r>
              <a:rPr sz="1500" b="1" i="0">
                <a:solidFill>
                  <a:srgbClr val="1F1E1D"/>
                </a:solidFill>
                <a:latin typeface="Helvetica Neue"/>
              </a:rPr>
              <a:t>Post-tipping: 0.66 / yr</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10⁻⁷⁴</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H3: Policy Effectiveness</a:t>
            </a:r>
          </a:p>
        </p:txBody>
      </p:sp>
      <p:pic>
        <p:nvPicPr>
          <p:cNvPr id="4" name="Picture 3" descr="fig_yield_loss.png"/>
          <p:cNvPicPr>
            <a:picLocks noChangeAspect="1"/>
          </p:cNvPicPr>
          <p:nvPr/>
        </p:nvPicPr>
        <p:blipFill>
          <a:blip r:embed="rId2"/>
          <a:stretch>
            <a:fillRect/>
          </a:stretch>
        </p:blipFill>
        <p:spPr>
          <a:xfrm>
            <a:off x="700000" y="1750000"/>
            <a:ext cx="6800000" cy="4590366"/>
          </a:xfrm>
          <a:prstGeom prst="rect">
            <a:avLst/>
          </a:prstGeom>
        </p:spPr>
      </p:pic>
      <p:sp>
        <p:nvSpPr>
          <p:cNvPr id="5" name="TextBox 4"/>
          <p:cNvSpPr txBox="1"/>
          <p:nvPr/>
        </p:nvSpPr>
        <p:spPr>
          <a:xfrm>
            <a:off x="8000000" y="1800000"/>
            <a:ext cx="5000000" cy="400000"/>
          </a:xfrm>
          <a:prstGeom prst="rect">
            <a:avLst/>
          </a:prstGeom>
          <a:noFill/>
        </p:spPr>
        <p:txBody>
          <a:bodyPr wrap="square" lIns="0" rIns="0" tIns="0" bIns="0" anchor="t">
            <a:spAutoFit/>
          </a:bodyPr>
          <a:lstStyle/>
          <a:p>
            <a:pPr algn="l"/>
            <a:r>
              <a:rPr sz="1100" b="1" i="0">
                <a:solidFill>
                  <a:srgbClr val="7B2D26"/>
                </a:solidFill>
                <a:latin typeface="Helvetica Neue"/>
              </a:rPr>
              <a:t>PROACTIVE CAP</a:t>
            </a:r>
          </a:p>
        </p:txBody>
      </p:sp>
      <p:sp>
        <p:nvSpPr>
          <p:cNvPr id="6" name="TextBox 5"/>
          <p:cNvSpPr txBox="1"/>
          <p:nvPr/>
        </p:nvSpPr>
        <p:spPr>
          <a:xfrm>
            <a:off x="8000000" y="2200000"/>
            <a:ext cx="5000000" cy="1100000"/>
          </a:xfrm>
          <a:prstGeom prst="rect">
            <a:avLst/>
          </a:prstGeom>
          <a:noFill/>
        </p:spPr>
        <p:txBody>
          <a:bodyPr wrap="square" lIns="0" rIns="0" tIns="0" bIns="0" anchor="t">
            <a:spAutoFit/>
          </a:bodyPr>
          <a:lstStyle/>
          <a:p>
            <a:pPr algn="l"/>
            <a:r>
              <a:rPr sz="6000" b="1" i="0">
                <a:solidFill>
                  <a:srgbClr val="7B2D26"/>
                </a:solidFill>
                <a:latin typeface="Georgia"/>
              </a:rPr>
              <a:t>+65%</a:t>
            </a:r>
          </a:p>
        </p:txBody>
      </p:sp>
      <p:sp>
        <p:nvSpPr>
          <p:cNvPr id="7" name="TextBox 6"/>
          <p:cNvSpPr txBox="1"/>
          <p:nvPr/>
        </p:nvSpPr>
        <p:spPr>
          <a:xfrm>
            <a:off x="8000000" y="32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delay in critical stress onset.</a:t>
            </a:r>
          </a:p>
        </p:txBody>
      </p:sp>
      <p:sp>
        <p:nvSpPr>
          <p:cNvPr id="8" name="TextBox 7"/>
          <p:cNvSpPr txBox="1"/>
          <p:nvPr/>
        </p:nvSpPr>
        <p:spPr>
          <a:xfrm>
            <a:off x="8000000" y="3900000"/>
            <a:ext cx="5000000" cy="400000"/>
          </a:xfrm>
          <a:prstGeom prst="rect">
            <a:avLst/>
          </a:prstGeom>
          <a:noFill/>
        </p:spPr>
        <p:txBody>
          <a:bodyPr wrap="square" lIns="0" rIns="0" tIns="0" bIns="0" anchor="t">
            <a:spAutoFit/>
          </a:bodyPr>
          <a:lstStyle/>
          <a:p>
            <a:pPr algn="l"/>
            <a:r>
              <a:rPr sz="1100" b="1" i="0">
                <a:solidFill>
                  <a:srgbClr val="605E5B"/>
                </a:solidFill>
                <a:latin typeface="Helvetica Neue"/>
              </a:rPr>
              <a:t>REACTIVE CAP</a:t>
            </a:r>
          </a:p>
        </p:txBody>
      </p:sp>
      <p:sp>
        <p:nvSpPr>
          <p:cNvPr id="9" name="TextBox 8"/>
          <p:cNvSpPr txBox="1"/>
          <p:nvPr/>
        </p:nvSpPr>
        <p:spPr>
          <a:xfrm>
            <a:off x="8000000" y="4300000"/>
            <a:ext cx="5000000" cy="1100000"/>
          </a:xfrm>
          <a:prstGeom prst="rect">
            <a:avLst/>
          </a:prstGeom>
          <a:noFill/>
        </p:spPr>
        <p:txBody>
          <a:bodyPr wrap="square" lIns="0" rIns="0" tIns="0" bIns="0" anchor="t">
            <a:spAutoFit/>
          </a:bodyPr>
          <a:lstStyle/>
          <a:p>
            <a:pPr algn="l"/>
            <a:r>
              <a:rPr sz="6000" b="1" i="0">
                <a:solidFill>
                  <a:srgbClr val="1F1E1D"/>
                </a:solidFill>
                <a:latin typeface="Georgia"/>
              </a:rPr>
              <a:t>+0%</a:t>
            </a:r>
          </a:p>
        </p:txBody>
      </p:sp>
      <p:sp>
        <p:nvSpPr>
          <p:cNvPr id="10" name="TextBox 9"/>
          <p:cNvSpPr txBox="1"/>
          <p:nvPr/>
        </p:nvSpPr>
        <p:spPr>
          <a:xfrm>
            <a:off x="8000000" y="53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indistinguishable from no policy.</a:t>
            </a:r>
          </a:p>
        </p:txBody>
      </p:sp>
      <p:sp>
        <p:nvSpPr>
          <p:cNvPr id="11" name="TextBox 10"/>
          <p:cNvSpPr txBox="1"/>
          <p:nvPr/>
        </p:nvSpPr>
        <p:spPr>
          <a:xfrm>
            <a:off x="8000000" y="5850000"/>
            <a:ext cx="50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10⁻³⁵</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Discussion: What The Model Says</a:t>
            </a:r>
          </a:p>
        </p:txBody>
      </p:sp>
      <p:sp>
        <p:nvSpPr>
          <p:cNvPr id="4" name="TextBox 3"/>
          <p:cNvSpPr txBox="1"/>
          <p:nvPr/>
        </p:nvSpPr>
        <p:spPr>
          <a:xfrm>
            <a:off x="700000" y="1900000"/>
            <a:ext cx="6700000" cy="4800000"/>
          </a:xfrm>
          <a:prstGeom prst="rect">
            <a:avLst/>
          </a:prstGeom>
          <a:noFill/>
        </p:spPr>
        <p:txBody>
          <a:bodyPr wrap="square" lIns="0" rIns="0" tIns="0" bIns="0" anchor="t">
            <a:spAutoFit/>
          </a:bodyPr>
          <a:lstStyle/>
          <a:p>
            <a:pPr algn="l">
              <a:lnSpc>
                <a:spcPct val="150000"/>
              </a:lnSpc>
            </a:pPr>
            <a:r>
              <a:rPr sz="1400" b="1">
                <a:solidFill>
                  <a:srgbClr val="7B2D26"/>
                </a:solidFill>
                <a:latin typeface="Helvetica Neue"/>
              </a:rPr>
              <a:t>·  </a:t>
            </a:r>
            <a:r>
              <a:rPr sz="1400">
                <a:solidFill>
                  <a:srgbClr val="1F1E1D"/>
                </a:solidFill>
                <a:latin typeface="Helvetica Neue"/>
              </a:rPr>
              <a:t>Self-reporting is insufficient. Basin-level visibility is essential.</a:t>
            </a:r>
          </a:p>
          <a:p>
            <a:pPr algn="l">
              <a:lnSpc>
                <a:spcPct val="150000"/>
              </a:lnSpc>
            </a:pPr>
            <a:r>
              <a:rPr sz="1400" b="1">
                <a:solidFill>
                  <a:srgbClr val="7B2D26"/>
                </a:solidFill>
                <a:latin typeface="Helvetica Neue"/>
              </a:rPr>
              <a:t>·  </a:t>
            </a:r>
            <a:r>
              <a:rPr sz="1400">
                <a:solidFill>
                  <a:srgbClr val="1F1E1D"/>
                </a:solidFill>
                <a:latin typeface="Helvetica Neue"/>
              </a:rPr>
              <a:t>Reactive policy at conventional thresholds is structurally equivalent to no policy.</a:t>
            </a:r>
          </a:p>
          <a:p>
            <a:pPr algn="l">
              <a:lnSpc>
                <a:spcPct val="150000"/>
              </a:lnSpc>
            </a:pPr>
            <a:r>
              <a:rPr sz="1400" b="1">
                <a:solidFill>
                  <a:srgbClr val="7B2D26"/>
                </a:solidFill>
                <a:latin typeface="Helvetica Neue"/>
              </a:rPr>
              <a:t>·  </a:t>
            </a:r>
            <a:r>
              <a:rPr sz="1400">
                <a:solidFill>
                  <a:srgbClr val="1F1E1D"/>
                </a:solidFill>
                <a:latin typeface="Helvetica Neue"/>
              </a:rPr>
              <a:t>Staggered entry buys time, not safety. Long-run equilibrium is unchanged.</a:t>
            </a:r>
          </a:p>
          <a:p>
            <a:pPr algn="l">
              <a:lnSpc>
                <a:spcPct val="150000"/>
              </a:lnSpc>
            </a:pPr>
            <a:r>
              <a:rPr sz="1400" b="1">
                <a:solidFill>
                  <a:srgbClr val="7B2D26"/>
                </a:solidFill>
                <a:latin typeface="Helvetica Neue"/>
              </a:rPr>
              <a:t>·  </a:t>
            </a:r>
            <a:r>
              <a:rPr sz="1400">
                <a:solidFill>
                  <a:srgbClr val="1F1E1D"/>
                </a:solidFill>
                <a:latin typeface="Helvetica Neue"/>
              </a:rPr>
              <a:t>A 9x acceleration means by the time politicians notice, it is already too late.</a:t>
            </a:r>
          </a:p>
        </p:txBody>
      </p:sp>
      <p:pic>
        <p:nvPicPr>
          <p:cNvPr id="5" name="Picture 4" descr="fig_scenario_compare.png"/>
          <p:cNvPicPr>
            <a:picLocks noChangeAspect="1"/>
          </p:cNvPicPr>
          <p:nvPr/>
        </p:nvPicPr>
        <p:blipFill>
          <a:blip r:embed="rId2"/>
          <a:stretch>
            <a:fillRect/>
          </a:stretch>
        </p:blipFill>
        <p:spPr>
          <a:xfrm>
            <a:off x="7800000" y="2000000"/>
            <a:ext cx="4833333" cy="3567354"/>
          </a:xfrm>
          <a:prstGeom prst="rect">
            <a:avLst/>
          </a:prstGeom>
        </p:spPr>
      </p:pic>
      <p:sp>
        <p:nvSpPr>
          <p:cNvPr id="6" name="TextBox 5"/>
          <p:cNvSpPr txBox="1"/>
          <p:nvPr/>
        </p:nvSpPr>
        <p:spPr>
          <a:xfrm>
            <a:off x="7800000" y="5647354"/>
            <a:ext cx="4833333" cy="400000"/>
          </a:xfrm>
          <a:prstGeom prst="rect">
            <a:avLst/>
          </a:prstGeom>
          <a:noFill/>
        </p:spPr>
        <p:txBody>
          <a:bodyPr wrap="square" lIns="0" rIns="0" tIns="0" bIns="0" anchor="t">
            <a:spAutoFit/>
          </a:bodyPr>
          <a:lstStyle/>
          <a:p>
            <a:pPr algn="ctr"/>
            <a:r>
              <a:rPr sz="1000" b="0" i="0">
                <a:solidFill>
                  <a:srgbClr val="605E5B"/>
                </a:solidFill>
                <a:latin typeface="Helvetica Neue"/>
              </a:rPr>
              <a:t>Scenario comparison (A / B / C / D)</a:t>
            </a:r>
          </a:p>
        </p:txBody>
      </p:sp>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Limitations and Future Work</a:t>
            </a:r>
          </a:p>
        </p:txBody>
      </p:sp>
      <p:sp>
        <p:nvSpPr>
          <p:cNvPr id="4" name="TextBox 3"/>
          <p:cNvSpPr txBox="1"/>
          <p:nvPr/>
        </p:nvSpPr>
        <p:spPr>
          <a:xfrm>
            <a:off x="700000" y="1800000"/>
            <a:ext cx="5900000" cy="400000"/>
          </a:xfrm>
          <a:prstGeom prst="rect">
            <a:avLst/>
          </a:prstGeom>
          <a:noFill/>
        </p:spPr>
        <p:txBody>
          <a:bodyPr wrap="square" lIns="0" rIns="0" tIns="0" bIns="0" anchor="t">
            <a:spAutoFit/>
          </a:bodyPr>
          <a:lstStyle/>
          <a:p>
            <a:pPr algn="l"/>
            <a:r>
              <a:rPr sz="1100" b="1" i="0">
                <a:solidFill>
                  <a:srgbClr val="7B2D26"/>
                </a:solidFill>
                <a:latin typeface="Helvetica Neue"/>
              </a:rPr>
              <a:t>LIMITATIONS</a:t>
            </a:r>
          </a:p>
        </p:txBody>
      </p:sp>
      <p:sp>
        <p:nvSpPr>
          <p:cNvPr id="5" name="TextBox 4"/>
          <p:cNvSpPr txBox="1"/>
          <p:nvPr/>
        </p:nvSpPr>
        <p:spPr>
          <a:xfrm>
            <a:off x="700000" y="2250000"/>
            <a:ext cx="59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Synthetic parameters (calibrated, not validated against a specific basin)</a:t>
            </a:r>
          </a:p>
          <a:p>
            <a:pPr algn="l">
              <a:lnSpc>
                <a:spcPct val="140000"/>
              </a:lnSpc>
            </a:pPr>
            <a:r>
              <a:rPr sz="1300" b="1">
                <a:solidFill>
                  <a:srgbClr val="7B2D26"/>
                </a:solidFill>
                <a:latin typeface="Helvetica Neue"/>
              </a:rPr>
              <a:t>·  </a:t>
            </a:r>
            <a:r>
              <a:rPr sz="1300">
                <a:solidFill>
                  <a:srgbClr val="1F1E1D"/>
                </a:solidFill>
                <a:latin typeface="Helvetica Neue"/>
              </a:rPr>
              <a:t>No climate-change drift</a:t>
            </a:r>
          </a:p>
          <a:p>
            <a:pPr algn="l">
              <a:lnSpc>
                <a:spcPct val="140000"/>
              </a:lnSpc>
            </a:pPr>
            <a:r>
              <a:rPr sz="1300" b="1">
                <a:solidFill>
                  <a:srgbClr val="7B2D26"/>
                </a:solidFill>
                <a:latin typeface="Helvetica Neue"/>
              </a:rPr>
              <a:t>·  </a:t>
            </a:r>
            <a:r>
              <a:rPr sz="1300">
                <a:solidFill>
                  <a:srgbClr val="1F1E1D"/>
                </a:solidFill>
                <a:latin typeface="Helvetica Neue"/>
              </a:rPr>
              <a:t>Single basin, no inter-basin trade</a:t>
            </a:r>
          </a:p>
          <a:p>
            <a:pPr algn="l">
              <a:lnSpc>
                <a:spcPct val="140000"/>
              </a:lnSpc>
            </a:pPr>
            <a:r>
              <a:rPr sz="1300" b="1">
                <a:solidFill>
                  <a:srgbClr val="7B2D26"/>
                </a:solidFill>
                <a:latin typeface="Helvetica Neue"/>
              </a:rPr>
              <a:t>·  </a:t>
            </a:r>
            <a:r>
              <a:rPr sz="1300">
                <a:solidFill>
                  <a:srgbClr val="1F1E1D"/>
                </a:solidFill>
                <a:latin typeface="Helvetica Neue"/>
              </a:rPr>
              <a:t>Regulator has perfect observability after delay</a:t>
            </a:r>
          </a:p>
          <a:p>
            <a:pPr algn="l">
              <a:lnSpc>
                <a:spcPct val="140000"/>
              </a:lnSpc>
            </a:pPr>
            <a:r>
              <a:rPr sz="1300" b="1">
                <a:solidFill>
                  <a:srgbClr val="7B2D26"/>
                </a:solidFill>
                <a:latin typeface="Helvetica Neue"/>
              </a:rPr>
              <a:t>·  </a:t>
            </a:r>
            <a:r>
              <a:rPr sz="1300">
                <a:solidFill>
                  <a:srgbClr val="1F1E1D"/>
                </a:solidFill>
                <a:latin typeface="Helvetica Neue"/>
              </a:rPr>
              <a:t>Demand is exogenous</a:t>
            </a:r>
          </a:p>
          <a:p>
            <a:pPr algn="l">
              <a:lnSpc>
                <a:spcPct val="140000"/>
              </a:lnSpc>
            </a:pPr>
            <a:r>
              <a:rPr sz="1300" b="1">
                <a:solidFill>
                  <a:srgbClr val="7B2D26"/>
                </a:solidFill>
                <a:latin typeface="Helvetica Neue"/>
              </a:rPr>
              <a:t>·  </a:t>
            </a:r>
            <a:r>
              <a:rPr sz="1300">
                <a:solidFill>
                  <a:srgbClr val="1F1E1D"/>
                </a:solidFill>
                <a:latin typeface="Helvetica Neue"/>
              </a:rPr>
              <a:t>Ag yield loss simplified: below threshold = dead</a:t>
            </a:r>
          </a:p>
        </p:txBody>
      </p:sp>
      <p:sp>
        <p:nvSpPr>
          <p:cNvPr id="6" name="TextBox 5"/>
          <p:cNvSpPr txBox="1"/>
          <p:nvPr/>
        </p:nvSpPr>
        <p:spPr>
          <a:xfrm>
            <a:off x="7100000" y="1800000"/>
            <a:ext cx="5700000" cy="400000"/>
          </a:xfrm>
          <a:prstGeom prst="rect">
            <a:avLst/>
          </a:prstGeom>
          <a:noFill/>
        </p:spPr>
        <p:txBody>
          <a:bodyPr wrap="square" lIns="0" rIns="0" tIns="0" bIns="0" anchor="t">
            <a:spAutoFit/>
          </a:bodyPr>
          <a:lstStyle/>
          <a:p>
            <a:pPr algn="l"/>
            <a:r>
              <a:rPr sz="1100" b="1" i="0">
                <a:solidFill>
                  <a:srgbClr val="7B2D26"/>
                </a:solidFill>
                <a:latin typeface="Helvetica Neue"/>
              </a:rPr>
              <a:t>FUTURE WORK</a:t>
            </a:r>
          </a:p>
        </p:txBody>
      </p:sp>
      <p:sp>
        <p:nvSpPr>
          <p:cNvPr id="7" name="TextBox 6"/>
          <p:cNvSpPr txBox="1"/>
          <p:nvPr/>
        </p:nvSpPr>
        <p:spPr>
          <a:xfrm>
            <a:off x="7100000" y="2250000"/>
            <a:ext cx="57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Inter-basin water trade</a:t>
            </a:r>
          </a:p>
          <a:p>
            <a:pPr algn="l">
              <a:lnSpc>
                <a:spcPct val="140000"/>
              </a:lnSpc>
            </a:pPr>
            <a:r>
              <a:rPr sz="1300" b="1">
                <a:solidFill>
                  <a:srgbClr val="7B2D26"/>
                </a:solidFill>
                <a:latin typeface="Helvetica Neue"/>
              </a:rPr>
              <a:t>·  </a:t>
            </a:r>
            <a:r>
              <a:rPr sz="1300">
                <a:solidFill>
                  <a:srgbClr val="1F1E1D"/>
                </a:solidFill>
                <a:latin typeface="Helvetica Neue"/>
              </a:rPr>
              <a:t>Climate-change scenarios (drift in recharge)</a:t>
            </a:r>
          </a:p>
          <a:p>
            <a:pPr algn="l">
              <a:lnSpc>
                <a:spcPct val="140000"/>
              </a:lnSpc>
            </a:pPr>
            <a:r>
              <a:rPr sz="1300" b="1">
                <a:solidFill>
                  <a:srgbClr val="7B2D26"/>
                </a:solidFill>
                <a:latin typeface="Helvetica Neue"/>
              </a:rPr>
              <a:t>·  </a:t>
            </a:r>
            <a:r>
              <a:rPr sz="1300">
                <a:solidFill>
                  <a:srgbClr val="1F1E1D"/>
                </a:solidFill>
                <a:latin typeface="Helvetica Neue"/>
              </a:rPr>
              <a:t>Real permit-process modeling</a:t>
            </a:r>
          </a:p>
          <a:p>
            <a:pPr algn="l">
              <a:lnSpc>
                <a:spcPct val="140000"/>
              </a:lnSpc>
            </a:pPr>
            <a:r>
              <a:rPr sz="1300" b="1">
                <a:solidFill>
                  <a:srgbClr val="7B2D26"/>
                </a:solidFill>
                <a:latin typeface="Helvetica Neue"/>
              </a:rPr>
              <a:t>·  </a:t>
            </a:r>
            <a:r>
              <a:rPr sz="1300">
                <a:solidFill>
                  <a:srgbClr val="1F1E1D"/>
                </a:solidFill>
                <a:latin typeface="Helvetica Neue"/>
              </a:rPr>
              <a:t>Inter-operator contestation and bidding</a:t>
            </a:r>
          </a:p>
          <a:p>
            <a:pPr algn="l">
              <a:lnSpc>
                <a:spcPct val="140000"/>
              </a:lnSpc>
            </a:pPr>
            <a:r>
              <a:rPr sz="1300" b="1">
                <a:solidFill>
                  <a:srgbClr val="7B2D26"/>
                </a:solidFill>
                <a:latin typeface="Helvetica Neue"/>
              </a:rPr>
              <a:t>·  </a:t>
            </a:r>
            <a:r>
              <a:rPr sz="1300">
                <a:solidFill>
                  <a:srgbClr val="1F1E1D"/>
                </a:solidFill>
                <a:latin typeface="Helvetica Neue"/>
              </a:rPr>
              <a:t>Endogenous demand response (price elasticity)</a:t>
            </a:r>
          </a:p>
          <a:p>
            <a:pPr algn="l">
              <a:lnSpc>
                <a:spcPct val="140000"/>
              </a:lnSpc>
            </a:pPr>
            <a:r>
              <a:rPr sz="1300" b="1">
                <a:solidFill>
                  <a:srgbClr val="7B2D26"/>
                </a:solidFill>
                <a:latin typeface="Helvetica Neue"/>
              </a:rPr>
              <a:t>·  </a:t>
            </a:r>
            <a:r>
              <a:rPr sz="1300">
                <a:solidFill>
                  <a:srgbClr val="1F1E1D"/>
                </a:solidFill>
                <a:latin typeface="Helvetica Neue"/>
              </a:rPr>
              <a:t>Calibrate to a real candidate basin</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Conclusion and Q&amp;A</a:t>
            </a:r>
          </a:p>
        </p:txBody>
      </p:sp>
      <p:sp>
        <p:nvSpPr>
          <p:cNvPr id="4" name="TextBox 3"/>
          <p:cNvSpPr txBox="1"/>
          <p:nvPr/>
        </p:nvSpPr>
        <p:spPr>
          <a:xfrm>
            <a:off x="700000" y="1800000"/>
            <a:ext cx="11933333" cy="400000"/>
          </a:xfrm>
          <a:prstGeom prst="rect">
            <a:avLst/>
          </a:prstGeom>
          <a:noFill/>
        </p:spPr>
        <p:txBody>
          <a:bodyPr wrap="square" lIns="0" rIns="0" tIns="0" bIns="0" anchor="t">
            <a:spAutoFit/>
          </a:bodyPr>
          <a:lstStyle/>
          <a:p>
            <a:pPr algn="l"/>
            <a:r>
              <a:rPr sz="1100" b="1" i="0">
                <a:solidFill>
                  <a:srgbClr val="7B2D26"/>
                </a:solidFill>
                <a:latin typeface="Helvetica Neue"/>
              </a:rPr>
              <a:t>THREE TAKEAWAYS</a:t>
            </a:r>
          </a:p>
        </p:txBody>
      </p:sp>
      <p:sp>
        <p:nvSpPr>
          <p:cNvPr id="5" name="TextBox 4"/>
          <p:cNvSpPr txBox="1"/>
          <p:nvPr/>
        </p:nvSpPr>
        <p:spPr>
          <a:xfrm>
            <a:off x="700000" y="2300000"/>
            <a:ext cx="550000" cy="600000"/>
          </a:xfrm>
          <a:prstGeom prst="rect">
            <a:avLst/>
          </a:prstGeom>
          <a:noFill/>
        </p:spPr>
        <p:txBody>
          <a:bodyPr wrap="square" lIns="0" rIns="0" tIns="0" bIns="0" anchor="t">
            <a:spAutoFit/>
          </a:bodyPr>
          <a:lstStyle/>
          <a:p>
            <a:pPr algn="l"/>
            <a:r>
              <a:rPr sz="3200" b="1" i="0">
                <a:solidFill>
                  <a:srgbClr val="7B2D26"/>
                </a:solidFill>
                <a:latin typeface="Georgia"/>
              </a:rPr>
              <a:t>1</a:t>
            </a:r>
          </a:p>
        </p:txBody>
      </p:sp>
      <p:sp>
        <p:nvSpPr>
          <p:cNvPr id="6" name="TextBox 5"/>
          <p:cNvSpPr txBox="1"/>
          <p:nvPr/>
        </p:nvSpPr>
        <p:spPr>
          <a:xfrm>
            <a:off x="1400000" y="23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Unregulated AI growth collapses shared basins on a 5 to 8 year timeline.</a:t>
            </a:r>
          </a:p>
        </p:txBody>
      </p:sp>
      <p:sp>
        <p:nvSpPr>
          <p:cNvPr id="7" name="TextBox 6"/>
          <p:cNvSpPr txBox="1"/>
          <p:nvPr/>
        </p:nvSpPr>
        <p:spPr>
          <a:xfrm>
            <a:off x="700000" y="3100000"/>
            <a:ext cx="550000" cy="600000"/>
          </a:xfrm>
          <a:prstGeom prst="rect">
            <a:avLst/>
          </a:prstGeom>
          <a:noFill/>
        </p:spPr>
        <p:txBody>
          <a:bodyPr wrap="square" lIns="0" rIns="0" tIns="0" bIns="0" anchor="t">
            <a:spAutoFit/>
          </a:bodyPr>
          <a:lstStyle/>
          <a:p>
            <a:pPr algn="l"/>
            <a:r>
              <a:rPr sz="3200" b="1" i="0">
                <a:solidFill>
                  <a:srgbClr val="7B2D26"/>
                </a:solidFill>
                <a:latin typeface="Georgia"/>
              </a:rPr>
              <a:t>2</a:t>
            </a:r>
          </a:p>
        </p:txBody>
      </p:sp>
      <p:sp>
        <p:nvSpPr>
          <p:cNvPr id="8" name="TextBox 7"/>
          <p:cNvSpPr txBox="1"/>
          <p:nvPr/>
        </p:nvSpPr>
        <p:spPr>
          <a:xfrm>
            <a:off x="1400000" y="31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The collapse is nonlinear. Late warnings will not help.</a:t>
            </a:r>
          </a:p>
        </p:txBody>
      </p:sp>
      <p:sp>
        <p:nvSpPr>
          <p:cNvPr id="9" name="TextBox 8"/>
          <p:cNvSpPr txBox="1"/>
          <p:nvPr/>
        </p:nvSpPr>
        <p:spPr>
          <a:xfrm>
            <a:off x="700000" y="3900000"/>
            <a:ext cx="550000" cy="600000"/>
          </a:xfrm>
          <a:prstGeom prst="rect">
            <a:avLst/>
          </a:prstGeom>
          <a:noFill/>
        </p:spPr>
        <p:txBody>
          <a:bodyPr wrap="square" lIns="0" rIns="0" tIns="0" bIns="0" anchor="t">
            <a:spAutoFit/>
          </a:bodyPr>
          <a:lstStyle/>
          <a:p>
            <a:pPr algn="l"/>
            <a:r>
              <a:rPr sz="3200" b="1" i="0">
                <a:solidFill>
                  <a:srgbClr val="7B2D26"/>
                </a:solidFill>
                <a:latin typeface="Georgia"/>
              </a:rPr>
              <a:t>3</a:t>
            </a:r>
          </a:p>
        </p:txBody>
      </p:sp>
      <p:sp>
        <p:nvSpPr>
          <p:cNvPr id="10" name="TextBox 9"/>
          <p:cNvSpPr txBox="1"/>
          <p:nvPr/>
        </p:nvSpPr>
        <p:spPr>
          <a:xfrm>
            <a:off x="1400000" y="39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Proactive caps work. Reactive caps do not.</a:t>
            </a:r>
          </a:p>
        </p:txBody>
      </p:sp>
      <p:sp>
        <p:nvSpPr>
          <p:cNvPr id="11" name="TextBox 10"/>
          <p:cNvSpPr txBox="1"/>
          <p:nvPr/>
        </p:nvSpPr>
        <p:spPr>
          <a:xfrm>
            <a:off x="700000" y="5050000"/>
            <a:ext cx="11933333" cy="1000000"/>
          </a:xfrm>
          <a:prstGeom prst="rect">
            <a:avLst/>
          </a:prstGeom>
          <a:noFill/>
        </p:spPr>
        <p:txBody>
          <a:bodyPr wrap="square" lIns="0" rIns="0" tIns="0" bIns="0" anchor="t">
            <a:spAutoFit/>
          </a:bodyPr>
          <a:lstStyle/>
          <a:p>
            <a:pPr algn="l"/>
            <a:r>
              <a:rPr sz="2000" b="0" i="1">
                <a:solidFill>
                  <a:srgbClr val="7B2D26"/>
                </a:solidFill>
                <a:latin typeface="Georgia"/>
              </a:rPr>
              <a:t>"If you want to keep the water on, you have to cap the draw before anyone asks you to."</a:t>
            </a:r>
          </a:p>
        </p:txBody>
      </p:sp>
      <p:sp>
        <p:nvSpPr>
          <p:cNvPr id="12" name="TextBox 11"/>
          <p:cNvSpPr txBox="1"/>
          <p:nvPr/>
        </p:nvSpPr>
        <p:spPr>
          <a:xfrm>
            <a:off x="700000" y="6200000"/>
            <a:ext cx="11933333" cy="400000"/>
          </a:xfrm>
          <a:prstGeom prst="rect">
            <a:avLst/>
          </a:prstGeom>
          <a:noFill/>
        </p:spPr>
        <p:txBody>
          <a:bodyPr wrap="square" lIns="0" rIns="0" tIns="0" bIns="0" anchor="t">
            <a:spAutoFit/>
          </a:bodyPr>
          <a:lstStyle/>
          <a:p>
            <a:pPr algn="l"/>
            <a:r>
              <a:rPr sz="1100" b="0" i="0">
                <a:solidFill>
                  <a:srgbClr val="605E5B"/>
                </a:solidFill>
                <a:latin typeface="Helvetica Neue"/>
              </a:rPr>
              <a:t>Code and data: github.com/cup-noodlehS/ABM-project</a:t>
            </a:r>
          </a:p>
        </p:txBody>
      </p:sp>
      <p:sp>
        <p:nvSpPr>
          <p:cNvPr id="13" name="TextBox 12"/>
          <p:cNvSpPr txBox="1"/>
          <p:nvPr/>
        </p:nvSpPr>
        <p:spPr>
          <a:xfrm>
            <a:off x="700000" y="6600000"/>
            <a:ext cx="11933333" cy="400000"/>
          </a:xfrm>
          <a:prstGeom prst="rect">
            <a:avLst/>
          </a:prstGeom>
          <a:noFill/>
        </p:spPr>
        <p:txBody>
          <a:bodyPr wrap="square" lIns="0" rIns="0" tIns="0" bIns="0" anchor="t">
            <a:spAutoFit/>
          </a:bodyPr>
          <a:lstStyle/>
          <a:p>
            <a:pPr algn="l"/>
            <a:r>
              <a:rPr sz="1600" b="1" i="0">
                <a:solidFill>
                  <a:srgbClr val="1F1E1D"/>
                </a:solidFill>
                <a:latin typeface="Helvetica Neue"/>
              </a:rPr>
              <a:t>Thank you. Questions?</a:t>
            </a:r>
          </a:p>
        </p:txBody>
      </p:sp>
      <p:sp>
        <p:nvSpPr>
          <p:cNvPr id="14" name="TextBox 13"/>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5" name="TextBox 14"/>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